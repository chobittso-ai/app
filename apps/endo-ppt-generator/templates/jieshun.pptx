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37" r:id="rId1"/>
  </p:sldMasterIdLst>
  <p:notesMasterIdLst>
    <p:notesMasterId r:id="rId11"/>
  </p:notesMasterIdLst>
  <p:handoutMasterIdLst>
    <p:handoutMasterId r:id="rId12"/>
  </p:handoutMasterIdLst>
  <p:sldIdLst>
    <p:sldId id="279" r:id="rId2"/>
    <p:sldId id="259" r:id="rId3"/>
    <p:sldId id="258" r:id="rId4"/>
    <p:sldId id="283" r:id="rId5"/>
    <p:sldId id="282" r:id="rId6"/>
    <p:sldId id="284" r:id="rId7"/>
    <p:sldId id="285" r:id="rId8"/>
    <p:sldId id="280" r:id="rId9"/>
    <p:sldId id="281" r:id="rId10"/>
  </p:sldIdLst>
  <p:sldSz cx="9144000" cy="6858000" type="screen4x3"/>
  <p:notesSz cx="9144000" cy="6858000"/>
  <p:embeddedFontLst>
    <p:embeddedFont>
      <p:font typeface="AR MingtiM KSC" panose="02000000000000000000" charset="-127"/>
      <p:regular r:id="rId13"/>
    </p:embeddedFont>
    <p:embeddedFont>
      <p:font typeface="標楷體" panose="03000509000000000000" pitchFamily="65" charset="-120"/>
      <p:regular r:id="rId14"/>
    </p:embeddedFont>
    <p:embeddedFont>
      <p:font typeface="Helvetica" panose="020B0604020202020204" pitchFamily="34" charset="0"/>
      <p:regular r:id="rId15"/>
      <p:bold r:id="rId16"/>
      <p:italic r:id="rId17"/>
      <p:boldItalic r:id="rId18"/>
    </p:embeddedFont>
    <p:embeddedFont>
      <p:font typeface="Monotype Corsiva" panose="03010101010201010101" pitchFamily="66" charset="0"/>
      <p:italic r:id="rId1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F00"/>
    <a:srgbClr val="CCFFFF"/>
    <a:srgbClr val="CCECFF"/>
    <a:srgbClr val="66CCFF"/>
    <a:srgbClr val="FFCCFF"/>
    <a:srgbClr val="FFFF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>
      <p:cViewPr varScale="1">
        <p:scale>
          <a:sx n="83" d="100"/>
          <a:sy n="83" d="100"/>
        </p:scale>
        <p:origin x="1203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09BA37B5-9AC1-DFE8-B65E-E864E2CF9D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AE4A10CF-1D5A-8DC2-B204-0C8CD1327A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C967976B-037B-2500-8568-DE21269215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F4321259-251E-1D07-054F-1BA6755F82C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6EFC588-601E-4A5D-8619-5344A056B05D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5ADCAF1D-78FE-A701-AC0C-9566B3A392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AR MingtiM KSC" pitchFamily="49" charset="-127"/>
                <a:ea typeface="AR MingtiM KSC" pitchFamily="49" charset="-127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9129DA81-D00B-B242-7881-B226C494B17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AR MingtiM KSC" pitchFamily="49" charset="-127"/>
                <a:ea typeface="AR MingtiM KSC" pitchFamily="49" charset="-127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8272A842-6D30-BD49-DA08-4AA8C1DF79A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9557" name="Rectangle 5">
            <a:extLst>
              <a:ext uri="{FF2B5EF4-FFF2-40B4-BE49-F238E27FC236}">
                <a16:creationId xmlns:a16="http://schemas.microsoft.com/office/drawing/2014/main" id="{561A3170-526E-FA7A-4DA8-0065A20428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79558" name="Rectangle 6">
            <a:extLst>
              <a:ext uri="{FF2B5EF4-FFF2-40B4-BE49-F238E27FC236}">
                <a16:creationId xmlns:a16="http://schemas.microsoft.com/office/drawing/2014/main" id="{BAEB5642-641A-1A07-24F2-838E2791ED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AR MingtiM KSC" pitchFamily="49" charset="-127"/>
                <a:ea typeface="AR MingtiM KSC" pitchFamily="49" charset="-127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9559" name="Rectangle 7">
            <a:extLst>
              <a:ext uri="{FF2B5EF4-FFF2-40B4-BE49-F238E27FC236}">
                <a16:creationId xmlns:a16="http://schemas.microsoft.com/office/drawing/2014/main" id="{C916EE84-B467-9006-9562-05CF2AAAC1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AR MingtiM KSC" charset="-127"/>
                <a:ea typeface="AR MingtiM KSC" charset="-127"/>
              </a:defRPr>
            </a:lvl1pPr>
          </a:lstStyle>
          <a:p>
            <a:fld id="{853DC7EB-EB23-4DB2-964A-36590B928A8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6F99DFB-ACAA-17FF-96C9-088F1FB1EF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2A2B0-BA86-46F6-BBBF-982E7751A3C9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F86589D-940E-9322-92B6-19E97BAF39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9078AF3-2CF4-C5B3-0669-EA6F446CF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662488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ED59089-E970-CEA7-BE5E-68E863EBA4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79CA8-4E7D-43C3-B1FC-F11B104AE61B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AF85CFF-8BAD-9235-4226-572550C2AF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8A07E41-AFCF-EB25-01EC-D1F67B88CB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57280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F2581C-A757-8932-C207-91D0974331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22C99-8F62-475F-9D05-7B7D5ECBFA06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2C28611-57A2-66C2-4742-A1C24239AF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BFE4A62-B68D-7038-EB48-1967D74CF1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1499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E861067-BF40-95AA-1D4A-55DEE0FD32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5C326-AA84-4B90-B103-90D9ADFE3DFC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C4B8D84-9F3B-AF3A-0E55-2D0254497B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C420BF8-84B3-20B7-C38F-23447BA87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98986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69577-A104-868A-408A-34E7266C9D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668E2-AB48-4785-A41D-AB53261DD352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8CF5DB-FE5D-A099-AE86-27C0360989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D1C382-D520-63DF-F1F6-AF51CD4922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32547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E00E8C1-AB39-AACE-CE64-2FED7A9661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E4CB2-365D-4256-AB9C-5CBDF286D5E2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E447253-69BD-A3AE-85AC-292E874A67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F16DD0C-6A4D-9D97-61D8-82005ECBDA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6232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7FD86F6-482F-3AE6-8EE8-9D3D469AD8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F05BB-2DD0-4904-9048-33F918330B6A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2F2C6EA-78C6-FBA2-FE26-D321267B2E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CFE5C7C-0F17-C211-3349-66337E45F2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02373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F0C85C5-613A-AABD-77AA-79ED02D041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08C618-5AF5-43CF-989D-1BA6F1597A7B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1F9C225-140D-0030-D6FD-5D69173FE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84DD76D-1369-8BEA-5A78-74BAEB54DF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45117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AF50F7-065A-3559-2332-AEB80717E1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0B169-3727-45BD-906A-EEF7B7171AED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B9A4C13-05D6-BA80-1FEE-B1CC9807AE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B62DC8F-FF5F-3444-F2A3-FF0BB17052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80314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E6C317-F09F-7BD1-0C74-B3FA6DF465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BBE8B-8C41-4352-AE08-6B48CD39C363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963D69A-FC40-02E9-2E0D-20DDA5F100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434A039-A255-BF6F-3DFE-8E5475A24E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27794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26BDF8-1084-7467-6A5F-4C000486A2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DEE84-76A3-4C92-9E0B-005C3C452099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5F2AB95-5B54-2345-38D7-C6D57E3FC6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D59C73-6841-D3FC-DB69-0745FEAD43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27236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8185E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>
            <a:extLst>
              <a:ext uri="{FF2B5EF4-FFF2-40B4-BE49-F238E27FC236}">
                <a16:creationId xmlns:a16="http://schemas.microsoft.com/office/drawing/2014/main" id="{1D51E796-DDE7-3D90-FD41-79499A5C990E}"/>
              </a:ext>
            </a:extLst>
          </p:cNvPr>
          <p:cNvSpPr>
            <a:spLocks/>
          </p:cNvSpPr>
          <p:nvPr/>
        </p:nvSpPr>
        <p:spPr bwMode="hidden">
          <a:xfrm>
            <a:off x="3175" y="1836738"/>
            <a:ext cx="885825" cy="5014912"/>
          </a:xfrm>
          <a:custGeom>
            <a:avLst/>
            <a:gdLst>
              <a:gd name="T0" fmla="*/ 0 w 556"/>
              <a:gd name="T1" fmla="*/ 0 h 3159"/>
              <a:gd name="T2" fmla="*/ 0 w 556"/>
              <a:gd name="T3" fmla="*/ 2147483647 h 3159"/>
              <a:gd name="T4" fmla="*/ 2147483647 w 556"/>
              <a:gd name="T5" fmla="*/ 2147483647 h 3159"/>
              <a:gd name="T6" fmla="*/ 2147483647 w 556"/>
              <a:gd name="T7" fmla="*/ 0 h 3159"/>
              <a:gd name="T8" fmla="*/ 0 w 556"/>
              <a:gd name="T9" fmla="*/ 0 h 3159"/>
              <a:gd name="T10" fmla="*/ 0 w 556"/>
              <a:gd name="T11" fmla="*/ 0 h 31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6" h="3159">
                <a:moveTo>
                  <a:pt x="0" y="0"/>
                </a:moveTo>
                <a:lnTo>
                  <a:pt x="0" y="3159"/>
                </a:lnTo>
                <a:lnTo>
                  <a:pt x="556" y="3159"/>
                </a:lnTo>
                <a:lnTo>
                  <a:pt x="556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50510"/>
              </a:gs>
              <a:gs pos="100000">
                <a:srgbClr val="333399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7" name="Freeform 3">
            <a:extLst>
              <a:ext uri="{FF2B5EF4-FFF2-40B4-BE49-F238E27FC236}">
                <a16:creationId xmlns:a16="http://schemas.microsoft.com/office/drawing/2014/main" id="{9471E2A0-6D4D-B542-E292-730455B0319E}"/>
              </a:ext>
            </a:extLst>
          </p:cNvPr>
          <p:cNvSpPr>
            <a:spLocks/>
          </p:cNvSpPr>
          <p:nvPr/>
        </p:nvSpPr>
        <p:spPr bwMode="hidden">
          <a:xfrm>
            <a:off x="889000" y="1836738"/>
            <a:ext cx="8255000" cy="5014912"/>
          </a:xfrm>
          <a:custGeom>
            <a:avLst/>
            <a:gdLst>
              <a:gd name="T0" fmla="*/ 0 w 5184"/>
              <a:gd name="T1" fmla="*/ 2147483647 h 3159"/>
              <a:gd name="T2" fmla="*/ 2147483647 w 5184"/>
              <a:gd name="T3" fmla="*/ 2147483647 h 3159"/>
              <a:gd name="T4" fmla="*/ 2147483647 w 5184"/>
              <a:gd name="T5" fmla="*/ 0 h 3159"/>
              <a:gd name="T6" fmla="*/ 0 w 5184"/>
              <a:gd name="T7" fmla="*/ 0 h 3159"/>
              <a:gd name="T8" fmla="*/ 0 w 5184"/>
              <a:gd name="T9" fmla="*/ 2147483647 h 3159"/>
              <a:gd name="T10" fmla="*/ 0 w 5184"/>
              <a:gd name="T11" fmla="*/ 2147483647 h 31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184" h="3159">
                <a:moveTo>
                  <a:pt x="0" y="3159"/>
                </a:moveTo>
                <a:lnTo>
                  <a:pt x="5184" y="3159"/>
                </a:lnTo>
                <a:lnTo>
                  <a:pt x="5184" y="0"/>
                </a:lnTo>
                <a:lnTo>
                  <a:pt x="0" y="0"/>
                </a:lnTo>
                <a:lnTo>
                  <a:pt x="0" y="3159"/>
                </a:lnTo>
                <a:close/>
              </a:path>
            </a:pathLst>
          </a:custGeom>
          <a:gradFill rotWithShape="0">
            <a:gsLst>
              <a:gs pos="0">
                <a:srgbClr val="1D1D56"/>
              </a:gs>
              <a:gs pos="100000">
                <a:srgbClr val="33339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F67691-502B-5D30-0746-465A44C8C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0A6D91-6695-29E7-238D-EBEB4F156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09606" name="Rectangle 6">
            <a:extLst>
              <a:ext uri="{FF2B5EF4-FFF2-40B4-BE49-F238E27FC236}">
                <a16:creationId xmlns:a16="http://schemas.microsoft.com/office/drawing/2014/main" id="{5C6774B0-AF3F-1377-ED54-42EC4900CA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fld id="{41151C2D-E719-48AA-BE8E-3A8A8FE05B5C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409607" name="Rectangle 7">
            <a:extLst>
              <a:ext uri="{FF2B5EF4-FFF2-40B4-BE49-F238E27FC236}">
                <a16:creationId xmlns:a16="http://schemas.microsoft.com/office/drawing/2014/main" id="{6083BD02-A494-E9D3-4E94-EAD5B2F265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608" name="Rectangle 8">
            <a:extLst>
              <a:ext uri="{FF2B5EF4-FFF2-40B4-BE49-F238E27FC236}">
                <a16:creationId xmlns:a16="http://schemas.microsoft.com/office/drawing/2014/main" id="{2EAC1275-8190-9C81-64AD-D81E46B025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i="1">
                <a:solidFill>
                  <a:srgbClr val="CC00CC"/>
                </a:solidFill>
                <a:latin typeface="Monotype Corsiva" pitchFamily="66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33" name="Freeform 9">
            <a:extLst>
              <a:ext uri="{FF2B5EF4-FFF2-40B4-BE49-F238E27FC236}">
                <a16:creationId xmlns:a16="http://schemas.microsoft.com/office/drawing/2014/main" id="{DA1EFED2-E66F-1762-E39C-8170E293C603}"/>
              </a:ext>
            </a:extLst>
          </p:cNvPr>
          <p:cNvSpPr>
            <a:spLocks/>
          </p:cNvSpPr>
          <p:nvPr/>
        </p:nvSpPr>
        <p:spPr bwMode="ltGray">
          <a:xfrm>
            <a:off x="876300" y="0"/>
            <a:ext cx="19050" cy="1103313"/>
          </a:xfrm>
          <a:custGeom>
            <a:avLst/>
            <a:gdLst>
              <a:gd name="T0" fmla="*/ 2147483647 w 12"/>
              <a:gd name="T1" fmla="*/ 0 h 695"/>
              <a:gd name="T2" fmla="*/ 0 w 12"/>
              <a:gd name="T3" fmla="*/ 0 h 695"/>
              <a:gd name="T4" fmla="*/ 0 w 12"/>
              <a:gd name="T5" fmla="*/ 2147483647 h 695"/>
              <a:gd name="T6" fmla="*/ 2147483647 w 12"/>
              <a:gd name="T7" fmla="*/ 2147483647 h 695"/>
              <a:gd name="T8" fmla="*/ 2147483647 w 12"/>
              <a:gd name="T9" fmla="*/ 0 h 695"/>
              <a:gd name="T10" fmla="*/ 2147483647 w 12"/>
              <a:gd name="T11" fmla="*/ 0 h 6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695">
                <a:moveTo>
                  <a:pt x="12" y="0"/>
                </a:moveTo>
                <a:lnTo>
                  <a:pt x="0" y="0"/>
                </a:lnTo>
                <a:lnTo>
                  <a:pt x="0" y="695"/>
                </a:lnTo>
                <a:lnTo>
                  <a:pt x="12" y="695"/>
                </a:lnTo>
                <a:lnTo>
                  <a:pt x="12" y="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4" name="Freeform 10">
            <a:extLst>
              <a:ext uri="{FF2B5EF4-FFF2-40B4-BE49-F238E27FC236}">
                <a16:creationId xmlns:a16="http://schemas.microsoft.com/office/drawing/2014/main" id="{D8B36069-1911-7755-CF15-1914E3D37467}"/>
              </a:ext>
            </a:extLst>
          </p:cNvPr>
          <p:cNvSpPr>
            <a:spLocks/>
          </p:cNvSpPr>
          <p:nvPr/>
        </p:nvSpPr>
        <p:spPr bwMode="ltGray">
          <a:xfrm>
            <a:off x="876300" y="2570163"/>
            <a:ext cx="19050" cy="4281487"/>
          </a:xfrm>
          <a:custGeom>
            <a:avLst/>
            <a:gdLst>
              <a:gd name="T0" fmla="*/ 0 w 12"/>
              <a:gd name="T1" fmla="*/ 2147483647 h 2697"/>
              <a:gd name="T2" fmla="*/ 2147483647 w 12"/>
              <a:gd name="T3" fmla="*/ 2147483647 h 2697"/>
              <a:gd name="T4" fmla="*/ 2147483647 w 12"/>
              <a:gd name="T5" fmla="*/ 0 h 2697"/>
              <a:gd name="T6" fmla="*/ 0 w 12"/>
              <a:gd name="T7" fmla="*/ 0 h 2697"/>
              <a:gd name="T8" fmla="*/ 0 w 12"/>
              <a:gd name="T9" fmla="*/ 2147483647 h 2697"/>
              <a:gd name="T10" fmla="*/ 0 w 12"/>
              <a:gd name="T11" fmla="*/ 2147483647 h 26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2697">
                <a:moveTo>
                  <a:pt x="0" y="2697"/>
                </a:moveTo>
                <a:lnTo>
                  <a:pt x="12" y="2697"/>
                </a:lnTo>
                <a:lnTo>
                  <a:pt x="12" y="0"/>
                </a:lnTo>
                <a:lnTo>
                  <a:pt x="0" y="0"/>
                </a:lnTo>
                <a:lnTo>
                  <a:pt x="0" y="269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5" name="Freeform 11">
            <a:extLst>
              <a:ext uri="{FF2B5EF4-FFF2-40B4-BE49-F238E27FC236}">
                <a16:creationId xmlns:a16="http://schemas.microsoft.com/office/drawing/2014/main" id="{2CAFE92B-69E5-4A73-78E8-204E16CD9BBF}"/>
              </a:ext>
            </a:extLst>
          </p:cNvPr>
          <p:cNvSpPr>
            <a:spLocks/>
          </p:cNvSpPr>
          <p:nvPr/>
        </p:nvSpPr>
        <p:spPr bwMode="ltGray">
          <a:xfrm>
            <a:off x="1617663" y="1827213"/>
            <a:ext cx="7523162" cy="19050"/>
          </a:xfrm>
          <a:custGeom>
            <a:avLst/>
            <a:gdLst>
              <a:gd name="T0" fmla="*/ 2147483647 w 4724"/>
              <a:gd name="T1" fmla="*/ 0 h 12"/>
              <a:gd name="T2" fmla="*/ 0 w 4724"/>
              <a:gd name="T3" fmla="*/ 0 h 12"/>
              <a:gd name="T4" fmla="*/ 0 w 4724"/>
              <a:gd name="T5" fmla="*/ 2147483647 h 12"/>
              <a:gd name="T6" fmla="*/ 2147483647 w 4724"/>
              <a:gd name="T7" fmla="*/ 2147483647 h 12"/>
              <a:gd name="T8" fmla="*/ 2147483647 w 4724"/>
              <a:gd name="T9" fmla="*/ 0 h 12"/>
              <a:gd name="T10" fmla="*/ 2147483647 w 4724"/>
              <a:gd name="T11" fmla="*/ 0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724" h="12">
                <a:moveTo>
                  <a:pt x="4724" y="0"/>
                </a:moveTo>
                <a:lnTo>
                  <a:pt x="0" y="0"/>
                </a:lnTo>
                <a:lnTo>
                  <a:pt x="0" y="12"/>
                </a:lnTo>
                <a:lnTo>
                  <a:pt x="4724" y="12"/>
                </a:lnTo>
                <a:lnTo>
                  <a:pt x="4724" y="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6" name="Freeform 12">
            <a:extLst>
              <a:ext uri="{FF2B5EF4-FFF2-40B4-BE49-F238E27FC236}">
                <a16:creationId xmlns:a16="http://schemas.microsoft.com/office/drawing/2014/main" id="{CD2BCC4E-DC18-6926-AB57-45C162BDFAAA}"/>
              </a:ext>
            </a:extLst>
          </p:cNvPr>
          <p:cNvSpPr>
            <a:spLocks/>
          </p:cNvSpPr>
          <p:nvPr/>
        </p:nvSpPr>
        <p:spPr bwMode="ltGray">
          <a:xfrm>
            <a:off x="876300" y="2170113"/>
            <a:ext cx="19050" cy="400050"/>
          </a:xfrm>
          <a:custGeom>
            <a:avLst/>
            <a:gdLst>
              <a:gd name="T0" fmla="*/ 0 w 12"/>
              <a:gd name="T1" fmla="*/ 2147483647 h 252"/>
              <a:gd name="T2" fmla="*/ 2147483647 w 12"/>
              <a:gd name="T3" fmla="*/ 2147483647 h 252"/>
              <a:gd name="T4" fmla="*/ 2147483647 w 12"/>
              <a:gd name="T5" fmla="*/ 0 h 252"/>
              <a:gd name="T6" fmla="*/ 0 w 12"/>
              <a:gd name="T7" fmla="*/ 0 h 252"/>
              <a:gd name="T8" fmla="*/ 0 w 12"/>
              <a:gd name="T9" fmla="*/ 2147483647 h 252"/>
              <a:gd name="T10" fmla="*/ 0 w 12"/>
              <a:gd name="T11" fmla="*/ 2147483647 h 2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252">
                <a:moveTo>
                  <a:pt x="0" y="252"/>
                </a:moveTo>
                <a:lnTo>
                  <a:pt x="12" y="252"/>
                </a:lnTo>
                <a:lnTo>
                  <a:pt x="12" y="0"/>
                </a:lnTo>
                <a:lnTo>
                  <a:pt x="0" y="0"/>
                </a:lnTo>
                <a:lnTo>
                  <a:pt x="0" y="25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7" name="Freeform 13">
            <a:extLst>
              <a:ext uri="{FF2B5EF4-FFF2-40B4-BE49-F238E27FC236}">
                <a16:creationId xmlns:a16="http://schemas.microsoft.com/office/drawing/2014/main" id="{D85AFC47-B833-002E-429A-CFE96EA7969C}"/>
              </a:ext>
            </a:extLst>
          </p:cNvPr>
          <p:cNvSpPr>
            <a:spLocks/>
          </p:cNvSpPr>
          <p:nvPr/>
        </p:nvSpPr>
        <p:spPr bwMode="ltGray">
          <a:xfrm>
            <a:off x="876300" y="1103313"/>
            <a:ext cx="19050" cy="400050"/>
          </a:xfrm>
          <a:custGeom>
            <a:avLst/>
            <a:gdLst>
              <a:gd name="T0" fmla="*/ 2147483647 w 12"/>
              <a:gd name="T1" fmla="*/ 0 h 252"/>
              <a:gd name="T2" fmla="*/ 0 w 12"/>
              <a:gd name="T3" fmla="*/ 0 h 252"/>
              <a:gd name="T4" fmla="*/ 0 w 12"/>
              <a:gd name="T5" fmla="*/ 2147483647 h 252"/>
              <a:gd name="T6" fmla="*/ 2147483647 w 12"/>
              <a:gd name="T7" fmla="*/ 2147483647 h 252"/>
              <a:gd name="T8" fmla="*/ 2147483647 w 12"/>
              <a:gd name="T9" fmla="*/ 0 h 252"/>
              <a:gd name="T10" fmla="*/ 2147483647 w 12"/>
              <a:gd name="T11" fmla="*/ 0 h 2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252">
                <a:moveTo>
                  <a:pt x="12" y="0"/>
                </a:moveTo>
                <a:lnTo>
                  <a:pt x="0" y="0"/>
                </a:lnTo>
                <a:lnTo>
                  <a:pt x="0" y="252"/>
                </a:lnTo>
                <a:lnTo>
                  <a:pt x="12" y="252"/>
                </a:lnTo>
                <a:lnTo>
                  <a:pt x="12" y="0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8" name="Freeform 14">
            <a:extLst>
              <a:ext uri="{FF2B5EF4-FFF2-40B4-BE49-F238E27FC236}">
                <a16:creationId xmlns:a16="http://schemas.microsoft.com/office/drawing/2014/main" id="{DCCC2364-BE3B-7282-48C9-33A35BFC1030}"/>
              </a:ext>
            </a:extLst>
          </p:cNvPr>
          <p:cNvSpPr>
            <a:spLocks/>
          </p:cNvSpPr>
          <p:nvPr/>
        </p:nvSpPr>
        <p:spPr bwMode="ltGray">
          <a:xfrm>
            <a:off x="876300" y="1503363"/>
            <a:ext cx="19050" cy="666750"/>
          </a:xfrm>
          <a:custGeom>
            <a:avLst/>
            <a:gdLst>
              <a:gd name="T0" fmla="*/ 0 w 12"/>
              <a:gd name="T1" fmla="*/ 0 h 420"/>
              <a:gd name="T2" fmla="*/ 0 w 12"/>
              <a:gd name="T3" fmla="*/ 2147483647 h 420"/>
              <a:gd name="T4" fmla="*/ 2147483647 w 12"/>
              <a:gd name="T5" fmla="*/ 2147483647 h 420"/>
              <a:gd name="T6" fmla="*/ 2147483647 w 12"/>
              <a:gd name="T7" fmla="*/ 0 h 420"/>
              <a:gd name="T8" fmla="*/ 0 w 12"/>
              <a:gd name="T9" fmla="*/ 0 h 420"/>
              <a:gd name="T10" fmla="*/ 0 w 12"/>
              <a:gd name="T11" fmla="*/ 0 h 4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420">
                <a:moveTo>
                  <a:pt x="0" y="0"/>
                </a:moveTo>
                <a:lnTo>
                  <a:pt x="0" y="420"/>
                </a:lnTo>
                <a:lnTo>
                  <a:pt x="12" y="420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333FF"/>
              </a:gs>
              <a:gs pos="50000">
                <a:srgbClr val="FFFFFF"/>
              </a:gs>
              <a:gs pos="100000">
                <a:srgbClr val="3333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9" name="Freeform 15">
            <a:extLst>
              <a:ext uri="{FF2B5EF4-FFF2-40B4-BE49-F238E27FC236}">
                <a16:creationId xmlns:a16="http://schemas.microsoft.com/office/drawing/2014/main" id="{64D7EDCD-3A6D-5EB4-1C0E-461D856E55FD}"/>
              </a:ext>
            </a:extLst>
          </p:cNvPr>
          <p:cNvSpPr>
            <a:spLocks/>
          </p:cNvSpPr>
          <p:nvPr/>
        </p:nvSpPr>
        <p:spPr bwMode="ltGray">
          <a:xfrm>
            <a:off x="0" y="1827213"/>
            <a:ext cx="557213" cy="19050"/>
          </a:xfrm>
          <a:custGeom>
            <a:avLst/>
            <a:gdLst>
              <a:gd name="T0" fmla="*/ 0 w 251"/>
              <a:gd name="T1" fmla="*/ 0 h 12"/>
              <a:gd name="T2" fmla="*/ 0 w 251"/>
              <a:gd name="T3" fmla="*/ 2147483647 h 12"/>
              <a:gd name="T4" fmla="*/ 2147483647 w 251"/>
              <a:gd name="T5" fmla="*/ 2147483647 h 12"/>
              <a:gd name="T6" fmla="*/ 2147483647 w 251"/>
              <a:gd name="T7" fmla="*/ 0 h 12"/>
              <a:gd name="T8" fmla="*/ 0 w 251"/>
              <a:gd name="T9" fmla="*/ 0 h 12"/>
              <a:gd name="T10" fmla="*/ 0 w 251"/>
              <a:gd name="T11" fmla="*/ 0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1" h="12">
                <a:moveTo>
                  <a:pt x="0" y="0"/>
                </a:moveTo>
                <a:lnTo>
                  <a:pt x="0" y="12"/>
                </a:lnTo>
                <a:lnTo>
                  <a:pt x="251" y="12"/>
                </a:lnTo>
                <a:lnTo>
                  <a:pt x="251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40" name="Freeform 16">
            <a:extLst>
              <a:ext uri="{FF2B5EF4-FFF2-40B4-BE49-F238E27FC236}">
                <a16:creationId xmlns:a16="http://schemas.microsoft.com/office/drawing/2014/main" id="{79E72CC7-F976-E352-B457-ED15AD0B9BFE}"/>
              </a:ext>
            </a:extLst>
          </p:cNvPr>
          <p:cNvSpPr>
            <a:spLocks/>
          </p:cNvSpPr>
          <p:nvPr/>
        </p:nvSpPr>
        <p:spPr bwMode="ltGray">
          <a:xfrm>
            <a:off x="1217613" y="1827213"/>
            <a:ext cx="400050" cy="19050"/>
          </a:xfrm>
          <a:custGeom>
            <a:avLst/>
            <a:gdLst>
              <a:gd name="T0" fmla="*/ 2147483647 w 251"/>
              <a:gd name="T1" fmla="*/ 0 h 12"/>
              <a:gd name="T2" fmla="*/ 0 w 251"/>
              <a:gd name="T3" fmla="*/ 0 h 12"/>
              <a:gd name="T4" fmla="*/ 0 w 251"/>
              <a:gd name="T5" fmla="*/ 2147483647 h 12"/>
              <a:gd name="T6" fmla="*/ 2147483647 w 251"/>
              <a:gd name="T7" fmla="*/ 2147483647 h 12"/>
              <a:gd name="T8" fmla="*/ 2147483647 w 251"/>
              <a:gd name="T9" fmla="*/ 0 h 12"/>
              <a:gd name="T10" fmla="*/ 2147483647 w 251"/>
              <a:gd name="T11" fmla="*/ 0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1" h="12">
                <a:moveTo>
                  <a:pt x="251" y="0"/>
                </a:moveTo>
                <a:lnTo>
                  <a:pt x="0" y="0"/>
                </a:lnTo>
                <a:lnTo>
                  <a:pt x="0" y="12"/>
                </a:lnTo>
                <a:lnTo>
                  <a:pt x="251" y="12"/>
                </a:lnTo>
                <a:lnTo>
                  <a:pt x="251" y="0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9617" name="Freeform 17">
            <a:extLst>
              <a:ext uri="{FF2B5EF4-FFF2-40B4-BE49-F238E27FC236}">
                <a16:creationId xmlns:a16="http://schemas.microsoft.com/office/drawing/2014/main" id="{9EB9E09B-8AC6-430E-8631-48B459FA9499}"/>
              </a:ext>
            </a:extLst>
          </p:cNvPr>
          <p:cNvSpPr>
            <a:spLocks/>
          </p:cNvSpPr>
          <p:nvPr/>
        </p:nvSpPr>
        <p:spPr bwMode="ltGray">
          <a:xfrm>
            <a:off x="552450" y="1827213"/>
            <a:ext cx="665163" cy="19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2"/>
              </a:cxn>
              <a:cxn ang="0">
                <a:pos x="418" y="12"/>
              </a:cxn>
              <a:cxn ang="0">
                <a:pos x="418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418" h="12">
                <a:moveTo>
                  <a:pt x="0" y="0"/>
                </a:moveTo>
                <a:lnTo>
                  <a:pt x="0" y="12"/>
                </a:lnTo>
                <a:lnTo>
                  <a:pt x="418" y="12"/>
                </a:lnTo>
                <a:lnTo>
                  <a:pt x="41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333FF"/>
              </a:gs>
              <a:gs pos="50000">
                <a:schemeClr val="bg1"/>
              </a:gs>
              <a:gs pos="100000">
                <a:srgbClr val="3333FF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9pPr>
    </p:titleStyle>
    <p:bodyStyle>
      <a:lvl1pPr marL="381000" indent="-381000" algn="l" rtl="0" eaLnBrk="0" fontAlgn="base" hangingPunct="0">
        <a:spcBef>
          <a:spcPct val="20000"/>
        </a:spcBef>
        <a:spcAft>
          <a:spcPct val="0"/>
        </a:spcAft>
        <a:buBlip>
          <a:blip r:embed="rId13"/>
        </a:buBlip>
        <a:defRPr kumimoji="1" sz="3200">
          <a:solidFill>
            <a:schemeClr val="bg1"/>
          </a:solidFill>
          <a:latin typeface="+mn-lt"/>
          <a:ea typeface="+mn-ea"/>
          <a:cs typeface="+mn-cs"/>
        </a:defRPr>
      </a:lvl1pPr>
      <a:lvl2pPr marL="952500" indent="-3810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kumimoji="1" sz="2800">
          <a:solidFill>
            <a:schemeClr val="bg1"/>
          </a:solidFill>
          <a:latin typeface="+mn-lt"/>
          <a:ea typeface="+mn-ea"/>
        </a:defRPr>
      </a:lvl2pPr>
      <a:lvl3pPr marL="1524000" indent="-3746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bg1"/>
          </a:solidFill>
          <a:latin typeface="+mn-lt"/>
          <a:ea typeface="+mn-ea"/>
        </a:defRPr>
      </a:lvl3pPr>
      <a:lvl4pPr marL="1943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1"/>
          </a:solidFill>
          <a:latin typeface="+mn-lt"/>
          <a:ea typeface="+mn-ea"/>
        </a:defRPr>
      </a:lvl4pPr>
      <a:lvl5pPr marL="2362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5pPr>
      <a:lvl6pPr marL="2819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6pPr>
      <a:lvl7pPr marL="3276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7pPr>
      <a:lvl8pPr marL="3733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8pPr>
      <a:lvl9pPr marL="4191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F7DE4B-05A8-D0C1-7A73-49CEA5D61E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42988" y="4149725"/>
            <a:ext cx="7489825" cy="2159000"/>
          </a:xfrm>
        </p:spPr>
        <p:txBody>
          <a:bodyPr/>
          <a:lstStyle/>
          <a:p>
            <a:pPr algn="l" eaLnBrk="1" hangingPunct="1"/>
            <a:r>
              <a:rPr lang="zh-TW" altLang="en-US" sz="3600">
                <a:solidFill>
                  <a:srgbClr val="FFCC00"/>
                </a:solidFill>
              </a:rPr>
              <a:t>　　</a:t>
            </a:r>
            <a:br>
              <a:rPr lang="en-US" altLang="zh-TW" sz="2800">
                <a:solidFill>
                  <a:srgbClr val="FFCC00"/>
                </a:solidFill>
              </a:rPr>
            </a:br>
            <a:r>
              <a:rPr lang="zh-TW" altLang="en-US" sz="2800">
                <a:solidFill>
                  <a:srgbClr val="FFC000"/>
                </a:solidFill>
              </a:rPr>
              <a:t>機構名稱：</a:t>
            </a:r>
            <a:br>
              <a:rPr lang="en-US" altLang="zh-TW" sz="2800">
                <a:solidFill>
                  <a:srgbClr val="FFC000"/>
                </a:solidFill>
              </a:rPr>
            </a:br>
            <a:r>
              <a:rPr lang="zh-TW" altLang="en-US" sz="2800">
                <a:solidFill>
                  <a:srgbClr val="FFC000"/>
                </a:solidFill>
              </a:rPr>
              <a:t>機構負責人：</a:t>
            </a:r>
            <a:br>
              <a:rPr lang="en-US" altLang="zh-TW" sz="2800">
                <a:solidFill>
                  <a:srgbClr val="FFC000"/>
                </a:solidFill>
              </a:rPr>
            </a:br>
            <a:r>
              <a:rPr lang="zh-TW" altLang="en-US" sz="2800">
                <a:solidFill>
                  <a:srgbClr val="FFC000"/>
                </a:solidFill>
              </a:rPr>
              <a:t>受訓學員：</a:t>
            </a:r>
            <a:br>
              <a:rPr lang="en-US" altLang="zh-TW" sz="2800">
                <a:solidFill>
                  <a:srgbClr val="FFC000"/>
                </a:solidFill>
              </a:rPr>
            </a:br>
            <a:r>
              <a:rPr lang="zh-TW" altLang="en-US" sz="2800">
                <a:solidFill>
                  <a:srgbClr val="FFC000"/>
                </a:solidFill>
              </a:rPr>
              <a:t>受訓期間：</a:t>
            </a:r>
            <a:br>
              <a:rPr lang="en-US" altLang="zh-TW" sz="2800">
                <a:solidFill>
                  <a:srgbClr val="FFC000"/>
                </a:solidFill>
              </a:rPr>
            </a:br>
            <a:r>
              <a:rPr lang="zh-TW" altLang="en-US" sz="2800">
                <a:solidFill>
                  <a:srgbClr val="FFC000"/>
                </a:solidFill>
              </a:rPr>
              <a:t>提報日期：</a:t>
            </a:r>
            <a:br>
              <a:rPr lang="en-US" altLang="zh-TW" sz="4000">
                <a:solidFill>
                  <a:srgbClr val="FFCC00"/>
                </a:solidFill>
              </a:rPr>
            </a:br>
            <a:r>
              <a:rPr lang="zh-TW" altLang="en-US" sz="4000">
                <a:solidFill>
                  <a:srgbClr val="FFCC00"/>
                </a:solidFill>
              </a:rPr>
              <a:t>　 </a:t>
            </a:r>
            <a:endParaRPr lang="zh-TW" altLang="en-US" sz="3200">
              <a:solidFill>
                <a:srgbClr val="FFCC00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1E8D3C7-D8F6-D3CC-B116-AB9E81A022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1835150"/>
            <a:ext cx="6400800" cy="2170113"/>
          </a:xfrm>
        </p:spPr>
        <p:txBody>
          <a:bodyPr/>
          <a:lstStyle/>
          <a:p>
            <a:pPr eaLnBrk="1" hangingPunct="1"/>
            <a:r>
              <a:rPr lang="zh-TW" altLang="en-US" sz="4800">
                <a:sym typeface="Wingdings" panose="05000000000000000000" pitchFamily="2" charset="2"/>
              </a:rPr>
              <a:t>牙髓病科專科醫師</a:t>
            </a:r>
            <a:endParaRPr lang="zh-TW" altLang="en-US" sz="2800">
              <a:sym typeface="Wingdings" panose="05000000000000000000" pitchFamily="2" charset="2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C50EE2E-E4B8-DC90-24B6-49B0FFF80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3" y="3284538"/>
            <a:ext cx="3230562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0CA8A9FD-701E-8554-708D-C6A42AEE33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772400" cy="1728787"/>
          </a:xfrm>
        </p:spPr>
        <p:txBody>
          <a:bodyPr/>
          <a:lstStyle/>
          <a:p>
            <a:pPr eaLnBrk="1" hangingPunct="1"/>
            <a:r>
              <a:rPr lang="zh-TW" altLang="en-US" sz="4800"/>
              <a:t>結訓案例提報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F15A037A-7765-C706-D24E-23CE72C996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438" y="2924175"/>
            <a:ext cx="8821737" cy="4033838"/>
          </a:xfrm>
        </p:spPr>
        <p:txBody>
          <a:bodyPr/>
          <a:lstStyle/>
          <a:p>
            <a:pPr eaLnBrk="1" hangingPunct="1"/>
            <a:r>
              <a:rPr lang="zh-TW" altLang="en-US" sz="3600"/>
              <a:t>第</a:t>
            </a:r>
            <a:r>
              <a:rPr lang="zh-TW" altLang="en-US">
                <a:sym typeface="Wingdings" panose="05000000000000000000" pitchFamily="2" charset="2"/>
              </a:rPr>
              <a:t></a:t>
            </a:r>
            <a:r>
              <a:rPr lang="zh-TW" altLang="en-US" sz="3600"/>
              <a:t>類病例</a:t>
            </a:r>
            <a:endParaRPr lang="en-US" altLang="zh-TW" sz="3600"/>
          </a:p>
          <a:p>
            <a:pPr eaLnBrk="1" hangingPunct="1">
              <a:spcBef>
                <a:spcPts val="2400"/>
              </a:spcBef>
            </a:pPr>
            <a:r>
              <a:rPr lang="zh-TW" altLang="en-US" sz="2800"/>
              <a:t>分類說明（例：再治療病例）</a:t>
            </a:r>
            <a:endParaRPr lang="en-US" altLang="zh-TW" sz="2800"/>
          </a:p>
          <a:p>
            <a:pPr eaLnBrk="1" hangingPunct="1"/>
            <a:r>
              <a:rPr lang="en-US" altLang="zh-TW" sz="2800">
                <a:sym typeface="Wingdings" panose="05000000000000000000" pitchFamily="2" charset="2"/>
              </a:rPr>
              <a:t>Tooth </a:t>
            </a:r>
            <a:r>
              <a:rPr lang="zh-TW" altLang="en-US" sz="2800">
                <a:sym typeface="Wingdings" panose="05000000000000000000" pitchFamily="2" charset="2"/>
              </a:rPr>
              <a:t></a:t>
            </a:r>
            <a:endParaRPr lang="en-US" altLang="zh-TW" sz="2800">
              <a:sym typeface="Wingdings" panose="05000000000000000000" pitchFamily="2" charset="2"/>
            </a:endParaRPr>
          </a:p>
          <a:p>
            <a:pPr eaLnBrk="1" hangingPunct="1">
              <a:spcBef>
                <a:spcPts val="2400"/>
              </a:spcBef>
            </a:pPr>
            <a:r>
              <a:rPr lang="zh-TW" altLang="en-US" sz="2400">
                <a:sym typeface="Wingdings" panose="05000000000000000000" pitchFamily="2" charset="2"/>
              </a:rPr>
              <a:t>病歷號碼：</a:t>
            </a:r>
            <a:endParaRPr lang="en-US" altLang="zh-TW" sz="2400">
              <a:sym typeface="Wingdings" panose="05000000000000000000" pitchFamily="2" charset="2"/>
            </a:endParaRPr>
          </a:p>
          <a:p>
            <a:pPr eaLnBrk="1" hangingPunct="1">
              <a:spcBef>
                <a:spcPts val="2400"/>
              </a:spcBef>
            </a:pPr>
            <a:r>
              <a:rPr lang="zh-TW" altLang="en-US" sz="2400">
                <a:solidFill>
                  <a:srgbClr val="FFFFFF"/>
                </a:solidFill>
                <a:sym typeface="Wingdings" panose="05000000000000000000" pitchFamily="2" charset="2"/>
              </a:rPr>
              <a:t>病患姓名：</a:t>
            </a:r>
            <a:endParaRPr lang="en-US" altLang="zh-TW" sz="240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eaLnBrk="1" hangingPunct="1">
              <a:spcBef>
                <a:spcPts val="2400"/>
              </a:spcBef>
            </a:pPr>
            <a:endParaRPr lang="zh-TW" altLang="en-US" sz="4000"/>
          </a:p>
        </p:txBody>
      </p:sp>
      <p:sp>
        <p:nvSpPr>
          <p:cNvPr id="3076" name="Line 7">
            <a:extLst>
              <a:ext uri="{FF2B5EF4-FFF2-40B4-BE49-F238E27FC236}">
                <a16:creationId xmlns:a16="http://schemas.microsoft.com/office/drawing/2014/main" id="{0F749FAB-264E-5B3E-7C1B-781841F234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2288" y="3794125"/>
            <a:ext cx="1346200" cy="26988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3077" name="Text Box 8">
            <a:extLst>
              <a:ext uri="{FF2B5EF4-FFF2-40B4-BE49-F238E27FC236}">
                <a16:creationId xmlns:a16="http://schemas.microsoft.com/office/drawing/2014/main" id="{F2056C1C-E12A-F697-361F-7C9FC73CD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676650"/>
            <a:ext cx="1584325" cy="4000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第幾類病例</a:t>
            </a:r>
          </a:p>
        </p:txBody>
      </p:sp>
      <p:sp>
        <p:nvSpPr>
          <p:cNvPr id="3078" name="Line 7">
            <a:extLst>
              <a:ext uri="{FF2B5EF4-FFF2-40B4-BE49-F238E27FC236}">
                <a16:creationId xmlns:a16="http://schemas.microsoft.com/office/drawing/2014/main" id="{3CD07C90-A55E-D7D8-9BA7-22EB8B05F1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02288" y="4508500"/>
            <a:ext cx="1268412" cy="0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3079" name="Text Box 8">
            <a:extLst>
              <a:ext uri="{FF2B5EF4-FFF2-40B4-BE49-F238E27FC236}">
                <a16:creationId xmlns:a16="http://schemas.microsoft.com/office/drawing/2014/main" id="{911169E2-3589-8918-6AE4-E53275EA7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4308475"/>
            <a:ext cx="1225550" cy="4000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治療齒位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C3605190-49D0-0310-5D28-98F1D5A4D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/>
              <a:t>Initial Radiograph</a:t>
            </a:r>
          </a:p>
        </p:txBody>
      </p:sp>
      <p:sp>
        <p:nvSpPr>
          <p:cNvPr id="4099" name="Rectangle 8">
            <a:extLst>
              <a:ext uri="{FF2B5EF4-FFF2-40B4-BE49-F238E27FC236}">
                <a16:creationId xmlns:a16="http://schemas.microsoft.com/office/drawing/2014/main" id="{1230FE25-839B-D98F-4545-A4BE052C2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4100" name="Line 9">
            <a:extLst>
              <a:ext uri="{FF2B5EF4-FFF2-40B4-BE49-F238E27FC236}">
                <a16:creationId xmlns:a16="http://schemas.microsoft.com/office/drawing/2014/main" id="{8A6EF8EE-548A-D5FC-6AC8-F750DAB24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4101" name="Text Box 10">
            <a:extLst>
              <a:ext uri="{FF2B5EF4-FFF2-40B4-BE49-F238E27FC236}">
                <a16:creationId xmlns:a16="http://schemas.microsoft.com/office/drawing/2014/main" id="{8853D277-007A-FFB1-F94D-3C995323B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4102" name="Line 11">
            <a:extLst>
              <a:ext uri="{FF2B5EF4-FFF2-40B4-BE49-F238E27FC236}">
                <a16:creationId xmlns:a16="http://schemas.microsoft.com/office/drawing/2014/main" id="{F5B81BB4-85A4-8C80-4F57-53FBB9514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4103" name="Text Box 12">
            <a:extLst>
              <a:ext uri="{FF2B5EF4-FFF2-40B4-BE49-F238E27FC236}">
                <a16:creationId xmlns:a16="http://schemas.microsoft.com/office/drawing/2014/main" id="{95C36C74-7081-41C4-DB0C-8F24D6709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4813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4104" name="Text Box 13">
            <a:extLst>
              <a:ext uri="{FF2B5EF4-FFF2-40B4-BE49-F238E27FC236}">
                <a16:creationId xmlns:a16="http://schemas.microsoft.com/office/drawing/2014/main" id="{53CBCADC-C44E-702C-B1BE-7856494A3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44900"/>
            <a:ext cx="6265862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 </a:t>
            </a:r>
            <a:r>
              <a:rPr lang="zh-TW" altLang="en-US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3600" b="1">
                <a:latin typeface="Arial" panose="020B0604020202020204" pitchFamily="34" charset="0"/>
                <a:ea typeface="新細明體" panose="02020500000000000000" pitchFamily="18" charset="-120"/>
              </a:rPr>
              <a:t>限一張</a:t>
            </a:r>
          </a:p>
        </p:txBody>
      </p:sp>
      <p:sp>
        <p:nvSpPr>
          <p:cNvPr id="4105" name="Text Box 14">
            <a:extLst>
              <a:ext uri="{FF2B5EF4-FFF2-40B4-BE49-F238E27FC236}">
                <a16:creationId xmlns:a16="http://schemas.microsoft.com/office/drawing/2014/main" id="{9C9E34CC-8C00-50AC-A857-1CF0D5EB0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159000" cy="37623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4106" name="AutoShape 15">
            <a:extLst>
              <a:ext uri="{FF2B5EF4-FFF2-40B4-BE49-F238E27FC236}">
                <a16:creationId xmlns:a16="http://schemas.microsoft.com/office/drawing/2014/main" id="{065F943D-84F0-7A28-7421-C603643A1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4107" name="AutoShape 16">
            <a:extLst>
              <a:ext uri="{FF2B5EF4-FFF2-40B4-BE49-F238E27FC236}">
                <a16:creationId xmlns:a16="http://schemas.microsoft.com/office/drawing/2014/main" id="{B8264B97-8E85-7ECC-F8CC-0C88D0B7E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5A621E31-BECE-F040-7394-B40748895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/>
              <a:t>Working Length</a:t>
            </a:r>
          </a:p>
        </p:txBody>
      </p:sp>
      <p:sp>
        <p:nvSpPr>
          <p:cNvPr id="5123" name="Rectangle 8">
            <a:extLst>
              <a:ext uri="{FF2B5EF4-FFF2-40B4-BE49-F238E27FC236}">
                <a16:creationId xmlns:a16="http://schemas.microsoft.com/office/drawing/2014/main" id="{F595C024-F6EC-B799-8E5C-F452DB34D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5124" name="Line 9">
            <a:extLst>
              <a:ext uri="{FF2B5EF4-FFF2-40B4-BE49-F238E27FC236}">
                <a16:creationId xmlns:a16="http://schemas.microsoft.com/office/drawing/2014/main" id="{D56331EB-C901-5A71-87DC-4ABBB6736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5125" name="Text Box 10">
            <a:extLst>
              <a:ext uri="{FF2B5EF4-FFF2-40B4-BE49-F238E27FC236}">
                <a16:creationId xmlns:a16="http://schemas.microsoft.com/office/drawing/2014/main" id="{3AF0EAAE-D8E8-7F1E-5800-0B13967E2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5126" name="Line 11">
            <a:extLst>
              <a:ext uri="{FF2B5EF4-FFF2-40B4-BE49-F238E27FC236}">
                <a16:creationId xmlns:a16="http://schemas.microsoft.com/office/drawing/2014/main" id="{AEE3734F-FF8D-8DB5-D17D-4063CE06D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5127" name="Text Box 12">
            <a:extLst>
              <a:ext uri="{FF2B5EF4-FFF2-40B4-BE49-F238E27FC236}">
                <a16:creationId xmlns:a16="http://schemas.microsoft.com/office/drawing/2014/main" id="{5302E3D5-4AB4-BA8B-1371-3381CCC9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4813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5128" name="Text Box 13">
            <a:extLst>
              <a:ext uri="{FF2B5EF4-FFF2-40B4-BE49-F238E27FC236}">
                <a16:creationId xmlns:a16="http://schemas.microsoft.com/office/drawing/2014/main" id="{002924D7-4C1B-9A50-5815-A61D4D6C2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44900"/>
            <a:ext cx="6265862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 </a:t>
            </a:r>
            <a:r>
              <a:rPr lang="zh-TW" altLang="en-US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3600" b="1">
                <a:latin typeface="Arial" panose="020B0604020202020204" pitchFamily="34" charset="0"/>
                <a:ea typeface="新細明體" panose="02020500000000000000" pitchFamily="18" charset="-120"/>
              </a:rPr>
              <a:t>限一張</a:t>
            </a:r>
          </a:p>
        </p:txBody>
      </p:sp>
      <p:sp>
        <p:nvSpPr>
          <p:cNvPr id="5129" name="Text Box 14">
            <a:extLst>
              <a:ext uri="{FF2B5EF4-FFF2-40B4-BE49-F238E27FC236}">
                <a16:creationId xmlns:a16="http://schemas.microsoft.com/office/drawing/2014/main" id="{A414B40C-09BB-7534-15D9-755F359D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159000" cy="37623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5130" name="AutoShape 15">
            <a:extLst>
              <a:ext uri="{FF2B5EF4-FFF2-40B4-BE49-F238E27FC236}">
                <a16:creationId xmlns:a16="http://schemas.microsoft.com/office/drawing/2014/main" id="{FA3E6E48-89C0-54AC-1BD4-21DAD2AA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5131" name="AutoShape 16">
            <a:extLst>
              <a:ext uri="{FF2B5EF4-FFF2-40B4-BE49-F238E27FC236}">
                <a16:creationId xmlns:a16="http://schemas.microsoft.com/office/drawing/2014/main" id="{B15B860A-7147-EDB2-3F18-AFB557007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33FEE423-1046-0A3D-1525-B7A2530B6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/>
              <a:t>Clinical/Microscopic Photo</a:t>
            </a:r>
          </a:p>
        </p:txBody>
      </p:sp>
      <p:sp>
        <p:nvSpPr>
          <p:cNvPr id="6147" name="Rectangle 8">
            <a:extLst>
              <a:ext uri="{FF2B5EF4-FFF2-40B4-BE49-F238E27FC236}">
                <a16:creationId xmlns:a16="http://schemas.microsoft.com/office/drawing/2014/main" id="{DCCF904A-030A-DAC4-2E89-A6F163B31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6148" name="Line 9">
            <a:extLst>
              <a:ext uri="{FF2B5EF4-FFF2-40B4-BE49-F238E27FC236}">
                <a16:creationId xmlns:a16="http://schemas.microsoft.com/office/drawing/2014/main" id="{00D1FBDB-310D-8B69-89B8-B22FD8479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6149" name="Text Box 10">
            <a:extLst>
              <a:ext uri="{FF2B5EF4-FFF2-40B4-BE49-F238E27FC236}">
                <a16:creationId xmlns:a16="http://schemas.microsoft.com/office/drawing/2014/main" id="{A07838E9-78EF-9B2A-C13B-BE99D1744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6150" name="Line 11">
            <a:extLst>
              <a:ext uri="{FF2B5EF4-FFF2-40B4-BE49-F238E27FC236}">
                <a16:creationId xmlns:a16="http://schemas.microsoft.com/office/drawing/2014/main" id="{E3764530-6DBF-4A74-6515-7B3A0C67C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6151" name="Text Box 12">
            <a:extLst>
              <a:ext uri="{FF2B5EF4-FFF2-40B4-BE49-F238E27FC236}">
                <a16:creationId xmlns:a16="http://schemas.microsoft.com/office/drawing/2014/main" id="{DD8A57CF-A6FC-DD56-2961-46B235CB2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4813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6152" name="Text Box 13">
            <a:extLst>
              <a:ext uri="{FF2B5EF4-FFF2-40B4-BE49-F238E27FC236}">
                <a16:creationId xmlns:a16="http://schemas.microsoft.com/office/drawing/2014/main" id="{3BBE0DFA-E9ED-977D-682C-CF5088DCA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44900"/>
            <a:ext cx="6265862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臨床或顯微鏡影像區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3600" b="1">
                <a:latin typeface="Arial" panose="020B0604020202020204" pitchFamily="34" charset="0"/>
                <a:ea typeface="新細明體" panose="02020500000000000000" pitchFamily="18" charset="-120"/>
              </a:rPr>
              <a:t>限一張</a:t>
            </a:r>
          </a:p>
        </p:txBody>
      </p:sp>
      <p:sp>
        <p:nvSpPr>
          <p:cNvPr id="6153" name="Text Box 14">
            <a:extLst>
              <a:ext uri="{FF2B5EF4-FFF2-40B4-BE49-F238E27FC236}">
                <a16:creationId xmlns:a16="http://schemas.microsoft.com/office/drawing/2014/main" id="{CC4DAB4B-5D7E-B45C-BB64-30DE6555C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159000" cy="37623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6154" name="AutoShape 15">
            <a:extLst>
              <a:ext uri="{FF2B5EF4-FFF2-40B4-BE49-F238E27FC236}">
                <a16:creationId xmlns:a16="http://schemas.microsoft.com/office/drawing/2014/main" id="{C1515B70-9D42-973D-B10A-BBC363079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6155" name="AutoShape 16">
            <a:extLst>
              <a:ext uri="{FF2B5EF4-FFF2-40B4-BE49-F238E27FC236}">
                <a16:creationId xmlns:a16="http://schemas.microsoft.com/office/drawing/2014/main" id="{7EA14267-7B10-0ACD-6AD4-95EC42B7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A3F374EE-82AB-86B7-F0B9-F400A4C21D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/>
              <a:t>Main Cone</a:t>
            </a:r>
          </a:p>
        </p:txBody>
      </p:sp>
      <p:sp>
        <p:nvSpPr>
          <p:cNvPr id="7171" name="Rectangle 8">
            <a:extLst>
              <a:ext uri="{FF2B5EF4-FFF2-40B4-BE49-F238E27FC236}">
                <a16:creationId xmlns:a16="http://schemas.microsoft.com/office/drawing/2014/main" id="{87D497E2-978C-9469-2AE5-8A04322BF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7172" name="Line 9">
            <a:extLst>
              <a:ext uri="{FF2B5EF4-FFF2-40B4-BE49-F238E27FC236}">
                <a16:creationId xmlns:a16="http://schemas.microsoft.com/office/drawing/2014/main" id="{4E3C13A1-4F14-965C-9E44-0683BA189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7173" name="Text Box 10">
            <a:extLst>
              <a:ext uri="{FF2B5EF4-FFF2-40B4-BE49-F238E27FC236}">
                <a16:creationId xmlns:a16="http://schemas.microsoft.com/office/drawing/2014/main" id="{0FB52DE1-436D-0723-9E30-BE5506945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7174" name="Line 11">
            <a:extLst>
              <a:ext uri="{FF2B5EF4-FFF2-40B4-BE49-F238E27FC236}">
                <a16:creationId xmlns:a16="http://schemas.microsoft.com/office/drawing/2014/main" id="{CF3DE61B-6024-2D5B-99AB-56A6259858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7175" name="Text Box 12">
            <a:extLst>
              <a:ext uri="{FF2B5EF4-FFF2-40B4-BE49-F238E27FC236}">
                <a16:creationId xmlns:a16="http://schemas.microsoft.com/office/drawing/2014/main" id="{CE56FB6B-CE90-7B89-E5F2-59B53C54C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4813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7176" name="Text Box 13">
            <a:extLst>
              <a:ext uri="{FF2B5EF4-FFF2-40B4-BE49-F238E27FC236}">
                <a16:creationId xmlns:a16="http://schemas.microsoft.com/office/drawing/2014/main" id="{B904DFA9-0CB9-823A-01EE-9C05EA1B6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44900"/>
            <a:ext cx="6265862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 </a:t>
            </a:r>
            <a:r>
              <a:rPr lang="zh-TW" altLang="en-US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3600" b="1">
                <a:latin typeface="Arial" panose="020B0604020202020204" pitchFamily="34" charset="0"/>
                <a:ea typeface="新細明體" panose="02020500000000000000" pitchFamily="18" charset="-120"/>
              </a:rPr>
              <a:t>限一張</a:t>
            </a:r>
          </a:p>
        </p:txBody>
      </p:sp>
      <p:sp>
        <p:nvSpPr>
          <p:cNvPr id="7177" name="Text Box 14">
            <a:extLst>
              <a:ext uri="{FF2B5EF4-FFF2-40B4-BE49-F238E27FC236}">
                <a16:creationId xmlns:a16="http://schemas.microsoft.com/office/drawing/2014/main" id="{309C9880-C556-96CC-EB38-8AF5A6C3A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159000" cy="37623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7178" name="AutoShape 15">
            <a:extLst>
              <a:ext uri="{FF2B5EF4-FFF2-40B4-BE49-F238E27FC236}">
                <a16:creationId xmlns:a16="http://schemas.microsoft.com/office/drawing/2014/main" id="{EFD3B59F-3FF5-7BB3-EEDE-7EB40E0BD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7179" name="AutoShape 16">
            <a:extLst>
              <a:ext uri="{FF2B5EF4-FFF2-40B4-BE49-F238E27FC236}">
                <a16:creationId xmlns:a16="http://schemas.microsoft.com/office/drawing/2014/main" id="{ED207C16-81C5-9B7E-C9D1-CF0049249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057F2C6D-10B2-D77C-9DF1-DBCC92E38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/>
              <a:t>RCF</a:t>
            </a:r>
          </a:p>
        </p:txBody>
      </p:sp>
      <p:sp>
        <p:nvSpPr>
          <p:cNvPr id="8195" name="Rectangle 8">
            <a:extLst>
              <a:ext uri="{FF2B5EF4-FFF2-40B4-BE49-F238E27FC236}">
                <a16:creationId xmlns:a16="http://schemas.microsoft.com/office/drawing/2014/main" id="{64A9F201-4359-F472-0695-D7F9DF6D77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8196" name="Line 9">
            <a:extLst>
              <a:ext uri="{FF2B5EF4-FFF2-40B4-BE49-F238E27FC236}">
                <a16:creationId xmlns:a16="http://schemas.microsoft.com/office/drawing/2014/main" id="{A9EA3922-B788-49AC-DBFD-9A45B91F8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8197" name="Text Box 10">
            <a:extLst>
              <a:ext uri="{FF2B5EF4-FFF2-40B4-BE49-F238E27FC236}">
                <a16:creationId xmlns:a16="http://schemas.microsoft.com/office/drawing/2014/main" id="{9C481414-7970-C954-E1B7-BEA484AD1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8198" name="Line 11">
            <a:extLst>
              <a:ext uri="{FF2B5EF4-FFF2-40B4-BE49-F238E27FC236}">
                <a16:creationId xmlns:a16="http://schemas.microsoft.com/office/drawing/2014/main" id="{2F52C3D9-AB55-67A7-403F-730FC4128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8199" name="Text Box 12">
            <a:extLst>
              <a:ext uri="{FF2B5EF4-FFF2-40B4-BE49-F238E27FC236}">
                <a16:creationId xmlns:a16="http://schemas.microsoft.com/office/drawing/2014/main" id="{02420D0F-0278-0004-1271-622FA5269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4813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8200" name="Text Box 13">
            <a:extLst>
              <a:ext uri="{FF2B5EF4-FFF2-40B4-BE49-F238E27FC236}">
                <a16:creationId xmlns:a16="http://schemas.microsoft.com/office/drawing/2014/main" id="{BDFF1A57-2AA1-0D55-09EF-6DA7EE153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44900"/>
            <a:ext cx="6265862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 </a:t>
            </a:r>
            <a:r>
              <a:rPr lang="zh-TW" altLang="en-US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3600" b="1">
                <a:latin typeface="Arial" panose="020B0604020202020204" pitchFamily="34" charset="0"/>
                <a:ea typeface="新細明體" panose="02020500000000000000" pitchFamily="18" charset="-120"/>
              </a:rPr>
              <a:t>限一張</a:t>
            </a:r>
          </a:p>
        </p:txBody>
      </p:sp>
      <p:sp>
        <p:nvSpPr>
          <p:cNvPr id="8201" name="Text Box 14">
            <a:extLst>
              <a:ext uri="{FF2B5EF4-FFF2-40B4-BE49-F238E27FC236}">
                <a16:creationId xmlns:a16="http://schemas.microsoft.com/office/drawing/2014/main" id="{F7A0798A-C34E-337C-AC19-E90E954C1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159000" cy="37623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8202" name="AutoShape 15">
            <a:extLst>
              <a:ext uri="{FF2B5EF4-FFF2-40B4-BE49-F238E27FC236}">
                <a16:creationId xmlns:a16="http://schemas.microsoft.com/office/drawing/2014/main" id="{6FB82862-DF94-5F6E-C8C0-0DAFBF737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8203" name="AutoShape 16">
            <a:extLst>
              <a:ext uri="{FF2B5EF4-FFF2-40B4-BE49-F238E27FC236}">
                <a16:creationId xmlns:a16="http://schemas.microsoft.com/office/drawing/2014/main" id="{1210CF4F-FD4C-83EC-0405-C33C6DECE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CE7D705-21FF-936D-4638-198A6FFB2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/>
              <a:t>術前與術後追蹤比較</a:t>
            </a:r>
            <a:endParaRPr lang="en-US" altLang="zh-TW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0635CA9-1CC3-CCBB-286A-FBEA72C52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712D8170-0788-7AA5-C53C-B3AE27383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DAD40A91-25B5-9CC6-1423-E10A2F618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FC8DAEF9-D7D0-651F-E631-9FF6D7834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0332B71B-5EB0-9518-CE9C-AE5A49CCE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33375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9224" name="AutoShape 10">
            <a:extLst>
              <a:ext uri="{FF2B5EF4-FFF2-40B4-BE49-F238E27FC236}">
                <a16:creationId xmlns:a16="http://schemas.microsoft.com/office/drawing/2014/main" id="{E8DE1A4E-407C-0C7F-13DF-B912D039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9225" name="AutoShape 11">
            <a:extLst>
              <a:ext uri="{FF2B5EF4-FFF2-40B4-BE49-F238E27FC236}">
                <a16:creationId xmlns:a16="http://schemas.microsoft.com/office/drawing/2014/main" id="{F8D98DE7-CD68-2B69-47E7-D6D7E4CD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9226" name="Text Box 12">
            <a:extLst>
              <a:ext uri="{FF2B5EF4-FFF2-40B4-BE49-F238E27FC236}">
                <a16:creationId xmlns:a16="http://schemas.microsoft.com/office/drawing/2014/main" id="{568E11ED-DFE1-95B1-F29B-E63115A31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661025"/>
            <a:ext cx="2159000" cy="37623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9227" name="Rectangle 13">
            <a:extLst>
              <a:ext uri="{FF2B5EF4-FFF2-40B4-BE49-F238E27FC236}">
                <a16:creationId xmlns:a16="http://schemas.microsoft.com/office/drawing/2014/main" id="{380B371D-6F3E-F915-C941-1394507DC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889375" cy="324008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9228" name="Rectangle 14">
            <a:extLst>
              <a:ext uri="{FF2B5EF4-FFF2-40B4-BE49-F238E27FC236}">
                <a16:creationId xmlns:a16="http://schemas.microsoft.com/office/drawing/2014/main" id="{9D228D0F-F112-9F7E-2492-E7BB46EA7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349500"/>
            <a:ext cx="3889375" cy="324008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9229" name="Text Box 15">
            <a:extLst>
              <a:ext uri="{FF2B5EF4-FFF2-40B4-BE49-F238E27FC236}">
                <a16:creationId xmlns:a16="http://schemas.microsoft.com/office/drawing/2014/main" id="{CC1F2086-E74F-44D3-455B-61C3281E5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573463"/>
            <a:ext cx="2303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術前</a:t>
            </a:r>
            <a:r>
              <a:rPr lang="en-US" altLang="zh-TW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</p:txBody>
      </p:sp>
      <p:sp>
        <p:nvSpPr>
          <p:cNvPr id="9230" name="Text Box 16">
            <a:extLst>
              <a:ext uri="{FF2B5EF4-FFF2-40B4-BE49-F238E27FC236}">
                <a16:creationId xmlns:a16="http://schemas.microsoft.com/office/drawing/2014/main" id="{7D389AB7-4871-1A38-B9E9-3E8126157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500438"/>
            <a:ext cx="28082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最後一次追蹤觀察</a:t>
            </a:r>
            <a:r>
              <a:rPr lang="en-US" altLang="zh-TW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</p:txBody>
      </p:sp>
      <p:sp>
        <p:nvSpPr>
          <p:cNvPr id="9231" name="Text Box 17">
            <a:extLst>
              <a:ext uri="{FF2B5EF4-FFF2-40B4-BE49-F238E27FC236}">
                <a16:creationId xmlns:a16="http://schemas.microsoft.com/office/drawing/2014/main" id="{973A8D63-8CA5-7021-68DB-17C954D17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661025"/>
            <a:ext cx="2159000" cy="37623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</a:rPr>
              <a:t>影像攝取時間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7AD3A0-495B-EC5D-D2F6-DDC0581F6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268413"/>
            <a:ext cx="7772400" cy="5113337"/>
          </a:xfrm>
        </p:spPr>
        <p:txBody>
          <a:bodyPr/>
          <a:lstStyle/>
          <a:p>
            <a:pPr>
              <a:defRPr/>
            </a:pPr>
            <a:r>
              <a:rPr lang="zh-TW" altLang="en-US" sz="2800" dirty="0">
                <a:latin typeface="+mn-ea"/>
              </a:rPr>
              <a:t>治療過程與回診追蹤之</a:t>
            </a:r>
            <a:r>
              <a:rPr lang="en-US" altLang="zh-TW" sz="2800" dirty="0">
                <a:latin typeface="+mn-ea"/>
              </a:rPr>
              <a:t>X</a:t>
            </a:r>
            <a:r>
              <a:rPr lang="zh-TW" altLang="en-US" sz="2800" dirty="0">
                <a:latin typeface="+mn-ea"/>
              </a:rPr>
              <a:t>光片或臨床照片，需使用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第三至七張投影片範本</a:t>
            </a:r>
            <a:r>
              <a:rPr lang="zh-TW" altLang="en-US" sz="2800" dirty="0">
                <a:latin typeface="+mn-ea"/>
              </a:rPr>
              <a:t>規範製作，每一張投影片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限放一張影像</a:t>
            </a:r>
            <a:r>
              <a:rPr lang="zh-TW" altLang="en-US" sz="2800" dirty="0">
                <a:latin typeface="+mn-ea"/>
              </a:rPr>
              <a:t>。</a:t>
            </a:r>
            <a:endParaRPr lang="en-US" altLang="zh-TW" sz="2800" dirty="0">
              <a:latin typeface="+mn-ea"/>
            </a:endParaRPr>
          </a:p>
          <a:p>
            <a:pPr>
              <a:defRPr/>
            </a:pPr>
            <a:r>
              <a:rPr lang="zh-TW" altLang="en-US" sz="2800" dirty="0"/>
              <a:t>影像文字說明字體需</a:t>
            </a:r>
            <a:r>
              <a:rPr lang="zh-TW" altLang="en-US" sz="2800" dirty="0">
                <a:solidFill>
                  <a:srgbClr val="FFFF00"/>
                </a:solidFill>
              </a:rPr>
              <a:t>大於</a:t>
            </a:r>
            <a:r>
              <a:rPr lang="en-US" altLang="zh-TW" sz="2800" dirty="0">
                <a:solidFill>
                  <a:srgbClr val="FFFF00"/>
                </a:solidFill>
              </a:rPr>
              <a:t>36</a:t>
            </a:r>
            <a:r>
              <a:rPr lang="zh-TW" altLang="en-US" sz="2800" dirty="0">
                <a:solidFill>
                  <a:srgbClr val="FFFF00"/>
                </a:solidFill>
              </a:rPr>
              <a:t>字體</a:t>
            </a:r>
            <a:r>
              <a:rPr lang="zh-TW" altLang="en-US" sz="2800" dirty="0"/>
              <a:t>，且內容不得超過影像說明區域。</a:t>
            </a:r>
            <a:endParaRPr lang="en-US" altLang="zh-TW" sz="2800" dirty="0"/>
          </a:p>
          <a:p>
            <a:pPr>
              <a:defRPr/>
            </a:pPr>
            <a:r>
              <a:rPr lang="en-US" altLang="zh-TW" sz="2800" b="1" dirty="0">
                <a:solidFill>
                  <a:srgbClr val="FFFF00"/>
                </a:solidFill>
                <a:latin typeface="+mn-ea"/>
              </a:rPr>
              <a:t>X 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光片或臨床影像區不得加入文字說明</a:t>
            </a:r>
            <a:r>
              <a:rPr lang="zh-TW" altLang="en-US" sz="2800" dirty="0">
                <a:latin typeface="+mn-ea"/>
              </a:rPr>
              <a:t>，影像需標註方位</a:t>
            </a:r>
            <a:r>
              <a:rPr lang="en-US" altLang="zh-TW" sz="2800" dirty="0">
                <a:latin typeface="+mn-ea"/>
              </a:rPr>
              <a:t>(</a:t>
            </a:r>
            <a:r>
              <a:rPr lang="zh-TW" altLang="en-US" sz="2800" dirty="0">
                <a:latin typeface="+mn-ea"/>
              </a:rPr>
              <a:t>例</a:t>
            </a:r>
            <a:r>
              <a:rPr lang="en-US" altLang="zh-TW" sz="2800" dirty="0">
                <a:latin typeface="+mn-ea"/>
              </a:rPr>
              <a:t>:M)</a:t>
            </a:r>
            <a:r>
              <a:rPr lang="zh-TW" altLang="en-US" sz="2800" dirty="0">
                <a:latin typeface="+mn-ea"/>
              </a:rPr>
              <a:t>且大小須完全佔據該區不得過小。</a:t>
            </a:r>
            <a:endParaRPr lang="en-US" altLang="zh-TW" sz="2800" dirty="0">
              <a:latin typeface="+mn-ea"/>
            </a:endParaRPr>
          </a:p>
          <a:p>
            <a:pPr>
              <a:defRPr/>
            </a:pPr>
            <a:r>
              <a:rPr lang="zh-TW" altLang="en-US" sz="2800" dirty="0">
                <a:latin typeface="+mn-ea"/>
              </a:rPr>
              <a:t>每個病例最後一張投影片內容應使用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第八張投影片範本</a:t>
            </a:r>
            <a:r>
              <a:rPr lang="zh-TW" altLang="en-US" sz="2800" dirty="0">
                <a:latin typeface="+mn-ea"/>
              </a:rPr>
              <a:t>規定製作。</a:t>
            </a:r>
            <a:endParaRPr lang="en-US" altLang="zh-TW" sz="2800" dirty="0">
              <a:latin typeface="+mn-ea"/>
            </a:endParaRPr>
          </a:p>
          <a:p>
            <a:pPr>
              <a:defRPr/>
            </a:pPr>
            <a:r>
              <a:rPr lang="zh-TW" altLang="en-US" sz="2800" dirty="0">
                <a:latin typeface="+mn-ea"/>
              </a:rPr>
              <a:t>提報病例時，請將範本中白線標示與文字說明刪除，以利版面簡潔。</a:t>
            </a:r>
            <a:endParaRPr lang="en-US" altLang="zh-TW" sz="2800" dirty="0">
              <a:latin typeface="+mn-ea"/>
            </a:endParaRPr>
          </a:p>
          <a:p>
            <a:pPr marL="0" indent="0">
              <a:buFontTx/>
              <a:buNone/>
              <a:defRPr/>
            </a:pPr>
            <a:endParaRPr lang="zh-TW" altLang="en-US" sz="2800" dirty="0">
              <a:latin typeface="+mn-ea"/>
            </a:endParaRPr>
          </a:p>
          <a:p>
            <a:pPr>
              <a:defRPr/>
            </a:pPr>
            <a:endParaRPr lang="en-US" altLang="zh-TW" sz="2800" dirty="0"/>
          </a:p>
          <a:p>
            <a:pPr>
              <a:defRPr/>
            </a:pPr>
            <a:endParaRPr lang="zh-TW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13829D-620D-68D1-FD72-0F9968C6A40F}"/>
              </a:ext>
            </a:extLst>
          </p:cNvPr>
          <p:cNvSpPr/>
          <p:nvPr/>
        </p:nvSpPr>
        <p:spPr>
          <a:xfrm>
            <a:off x="2017713" y="325438"/>
            <a:ext cx="510857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rgbClr val="FFFF00"/>
                </a:solidFill>
                <a:latin typeface="Helvetica" panose="020B0604020202020204" pitchFamily="34" charset="0"/>
              </a:rPr>
              <a:t>本頁為說明頁</a:t>
            </a:r>
            <a:r>
              <a:rPr lang="zh-TW" altLang="en-US" dirty="0">
                <a:solidFill>
                  <a:srgbClr val="FFFF00"/>
                </a:solidFill>
                <a:latin typeface="+mn-ea"/>
              </a:rPr>
              <a:t>，正式病例請刪除本頁</a:t>
            </a:r>
            <a:endParaRPr lang="zh-TW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resent template">
  <a:themeElements>
    <a:clrScheme name="present 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esent templat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present 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 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line</Template>
  <TotalTime>576</TotalTime>
  <Words>423</Words>
  <Application>Microsoft Office PowerPoint</Application>
  <PresentationFormat>如螢幕大小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Helvetica</vt:lpstr>
      <vt:lpstr>Times New Roman</vt:lpstr>
      <vt:lpstr>新細明體</vt:lpstr>
      <vt:lpstr>AR MingtiM KSC</vt:lpstr>
      <vt:lpstr>Monotype Corsiva</vt:lpstr>
      <vt:lpstr>Wingdings</vt:lpstr>
      <vt:lpstr>Arial</vt:lpstr>
      <vt:lpstr>標楷體</vt:lpstr>
      <vt:lpstr>present template</vt:lpstr>
      <vt:lpstr>　　 機構名稱： 機構負責人： 受訓學員： 受訓期間： 提報日期： 　 </vt:lpstr>
      <vt:lpstr>結訓案例提報</vt:lpstr>
      <vt:lpstr>Initial Radiograph</vt:lpstr>
      <vt:lpstr>Working Length</vt:lpstr>
      <vt:lpstr>Clinical/Microscopic Photo</vt:lpstr>
      <vt:lpstr>Main Cone</vt:lpstr>
      <vt:lpstr>RCF</vt:lpstr>
      <vt:lpstr>術前與術後追蹤比較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yuanling</dc:creator>
  <cp:lastModifiedBy>凱勻 左</cp:lastModifiedBy>
  <cp:revision>197</cp:revision>
  <dcterms:created xsi:type="dcterms:W3CDTF">2001-07-18T23:57:34Z</dcterms:created>
  <dcterms:modified xsi:type="dcterms:W3CDTF">2026-07-24T16:34:02Z</dcterms:modified>
</cp:coreProperties>
</file>