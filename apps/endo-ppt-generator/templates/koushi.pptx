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37" r:id="rId1"/>
  </p:sldMasterIdLst>
  <p:notesMasterIdLst>
    <p:notesMasterId r:id="rId7"/>
  </p:notesMasterIdLst>
  <p:handoutMasterIdLst>
    <p:handoutMasterId r:id="rId8"/>
  </p:handoutMasterIdLst>
  <p:sldIdLst>
    <p:sldId id="281" r:id="rId2"/>
    <p:sldId id="279" r:id="rId3"/>
    <p:sldId id="259" r:id="rId4"/>
    <p:sldId id="258" r:id="rId5"/>
    <p:sldId id="280" r:id="rId6"/>
  </p:sldIdLst>
  <p:sldSz cx="9144000" cy="6858000" type="screen4x3"/>
  <p:notesSz cx="9144000" cy="6858000"/>
  <p:embeddedFontLst>
    <p:embeddedFont>
      <p:font typeface="AR MingtiM KSC" panose="02000000000000000000" charset="-127"/>
      <p:regular r:id="rId9"/>
    </p:embeddedFont>
    <p:embeddedFont>
      <p:font typeface="微軟正黑體" panose="020B0604030504040204" pitchFamily="34" charset="-120"/>
      <p:regular r:id="rId10"/>
      <p:bold r:id="rId11"/>
    </p:embeddedFont>
    <p:embeddedFont>
      <p:font typeface="標楷體" panose="03000509000000000000" pitchFamily="65" charset="-120"/>
      <p:regular r:id="rId12"/>
    </p:embeddedFont>
    <p:embeddedFont>
      <p:font typeface="Monotype Corsiva" panose="03010101010201010101" pitchFamily="66" charset="0"/>
      <p:italic r:id="rId1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FF00"/>
    <a:srgbClr val="CCFFFF"/>
    <a:srgbClr val="CCECFF"/>
    <a:srgbClr val="66CCFF"/>
    <a:srgbClr val="FFCCFF"/>
    <a:srgbClr val="FFFF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/>
  </p:normalViewPr>
  <p:slideViewPr>
    <p:cSldViewPr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6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2375FB4A-FF72-D2AF-D4D0-78D6E57EAA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F3899616-38F8-D8E1-7184-7776ED37D0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D3FD6608-EFB0-ACF0-7E6A-1A48736ADC9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F8F0EE44-4805-3C74-B98C-572586AC8FE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A32C9C4-8A7A-40A0-9B5A-D364961B70D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A7A60DE0-EE63-4C6E-913D-DAEF5656E8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AR MingtiM KSC" pitchFamily="49" charset="-127"/>
                <a:ea typeface="AR MingtiM KSC" pitchFamily="49" charset="-127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9B0B00F9-A8F2-7298-44D3-419AB1EDA4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AR MingtiM KSC" pitchFamily="49" charset="-127"/>
                <a:ea typeface="AR MingtiM KSC" pitchFamily="49" charset="-127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2747E1B-747B-5F4C-3969-353C817E7A8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9557" name="Rectangle 5">
            <a:extLst>
              <a:ext uri="{FF2B5EF4-FFF2-40B4-BE49-F238E27FC236}">
                <a16:creationId xmlns:a16="http://schemas.microsoft.com/office/drawing/2014/main" id="{B5AC3081-5146-46A0-F29A-F3320AE1ADB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79558" name="Rectangle 6">
            <a:extLst>
              <a:ext uri="{FF2B5EF4-FFF2-40B4-BE49-F238E27FC236}">
                <a16:creationId xmlns:a16="http://schemas.microsoft.com/office/drawing/2014/main" id="{DC8C4BC8-2FCA-4D5B-3AC4-BD0FE4785F8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AR MingtiM KSC" pitchFamily="49" charset="-127"/>
                <a:ea typeface="AR MingtiM KSC" pitchFamily="49" charset="-127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9559" name="Rectangle 7">
            <a:extLst>
              <a:ext uri="{FF2B5EF4-FFF2-40B4-BE49-F238E27FC236}">
                <a16:creationId xmlns:a16="http://schemas.microsoft.com/office/drawing/2014/main" id="{D94E944B-03B2-61DD-717E-14E9FE9DA4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AR MingtiM KSC" panose="02000000000000000000" charset="-127"/>
                <a:ea typeface="AR MingtiM KSC" panose="02000000000000000000" charset="-127"/>
              </a:defRPr>
            </a:lvl1pPr>
          </a:lstStyle>
          <a:p>
            <a:pPr>
              <a:defRPr/>
            </a:pPr>
            <a:fld id="{2568AD1A-C9B9-4E91-B6E6-B61B7D6C350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 MingtiM KSC" pitchFamily="49" charset="-127"/>
        <a:ea typeface="新細明體" pitchFamily="18" charset="-120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 MingtiM KSC" pitchFamily="49" charset="-127"/>
        <a:ea typeface="新細明體" pitchFamily="18" charset="-120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 MingtiM KSC" pitchFamily="49" charset="-127"/>
        <a:ea typeface="新細明體" pitchFamily="18" charset="-120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 MingtiM KSC" pitchFamily="49" charset="-127"/>
        <a:ea typeface="新細明體" pitchFamily="18" charset="-120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 MingtiM KSC" pitchFamily="49" charset="-127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204C76F-6E23-F323-D427-310AA42004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701E0-5CA9-4925-8B2F-609810B9A13C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C6FF3EC-6CD2-D19F-3F0D-DA7468095D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B665247-8478-F788-7C30-824EAD823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3103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95BB4D-2AA3-F457-7E63-884ED85943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CF822-DEA9-4D37-81AB-472A12909D76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2D8600B-0571-A67D-6AC8-D0734D9FCD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2073318-0341-F474-43E0-182763328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07387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1121248-171D-DB68-D39C-A7D1A21970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3827F-C316-403A-A97A-268610EAE80A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EF73121-E8EF-E801-C5C1-825DD107DD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EE94EC4-BEBE-FEF8-E3CA-B9067BABF5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83780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DF8EB2E-A567-E980-0A7C-A02AFE72F0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F2D8A3-40D1-4DC9-95BC-ADC4B433BD09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B5A77A7-E0AC-A1BD-732B-1D7BB42BA0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B6242AB-3F85-B7B7-0C54-FF167E4A1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39225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51E608-B0E7-4C02-0893-CCFAC64975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5BDD9-7226-4F2A-9109-B259F4E10DBB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334E11-C842-0515-1C16-2A3F35D015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D49634-190D-B99A-1497-5DB6BA93B3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60785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8FAA874-F3E9-7BF6-0C2A-5E4625EB4F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5F8D2-752F-415F-8749-D94B6BF2A314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8240F36-967A-1646-A1CB-2BE68DE9B8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2BF3C4F-DD8B-6AD4-9C6E-4D4BD32797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3709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5324D04-FB55-1715-8EB4-F80B62249A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61234-3E33-4BA9-A909-6DBE7344E724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9B8B551B-9A93-AADC-0E0F-D40BD5BEF7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0E3ACEE-BEAF-CCCC-F8AE-52E7259FD7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45343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52C416-7691-9B29-9E7B-CCFEEF416C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3861B-39D3-46F6-B7DE-701D0C6714AA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6504892-F666-1192-3F4B-07773DA825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32A38E8-0A97-14BD-7474-D27468B7D9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045743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E690B3-0A14-AF68-635E-0BCD2AE628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C2945-7C9A-4F4F-83B3-EDF04714C1C6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C8EC277-8ADE-417C-0B81-F48C236738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8795785-81CE-1D77-4724-7C8C06858D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2580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DC237-66E0-EA6A-7553-8A788D91FF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3A2DD-5BBF-45CC-9EA5-6BBCCE3D1CD4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360E14F-4A6C-4917-5E77-CA8E187FE7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E2F6A30-CEB2-55AC-AE19-DE583650F5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351703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0720B8E-FB31-DFA2-67D4-4BD3AABC9B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1EF21-9616-4B27-BB5C-785170F8EE3C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4100AF7-C064-A206-B9AA-5D49FD3747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0C579E3-4D13-CF22-A248-285B52AD3C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378749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8185E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2">
            <a:extLst>
              <a:ext uri="{FF2B5EF4-FFF2-40B4-BE49-F238E27FC236}">
                <a16:creationId xmlns:a16="http://schemas.microsoft.com/office/drawing/2014/main" id="{2B0E6A60-216B-60C6-7CBE-C2581AC74E21}"/>
              </a:ext>
            </a:extLst>
          </p:cNvPr>
          <p:cNvSpPr>
            <a:spLocks/>
          </p:cNvSpPr>
          <p:nvPr/>
        </p:nvSpPr>
        <p:spPr bwMode="hidden">
          <a:xfrm>
            <a:off x="3175" y="1836738"/>
            <a:ext cx="885825" cy="5014912"/>
          </a:xfrm>
          <a:custGeom>
            <a:avLst/>
            <a:gdLst>
              <a:gd name="T0" fmla="*/ 0 w 556"/>
              <a:gd name="T1" fmla="*/ 0 h 3159"/>
              <a:gd name="T2" fmla="*/ 0 w 556"/>
              <a:gd name="T3" fmla="*/ 2147483646 h 3159"/>
              <a:gd name="T4" fmla="*/ 2147483646 w 556"/>
              <a:gd name="T5" fmla="*/ 2147483646 h 3159"/>
              <a:gd name="T6" fmla="*/ 2147483646 w 556"/>
              <a:gd name="T7" fmla="*/ 0 h 3159"/>
              <a:gd name="T8" fmla="*/ 0 w 556"/>
              <a:gd name="T9" fmla="*/ 0 h 3159"/>
              <a:gd name="T10" fmla="*/ 0 w 556"/>
              <a:gd name="T11" fmla="*/ 0 h 315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56" h="3159">
                <a:moveTo>
                  <a:pt x="0" y="0"/>
                </a:moveTo>
                <a:lnTo>
                  <a:pt x="0" y="3159"/>
                </a:lnTo>
                <a:lnTo>
                  <a:pt x="556" y="3159"/>
                </a:lnTo>
                <a:lnTo>
                  <a:pt x="556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50510"/>
              </a:gs>
              <a:gs pos="100000">
                <a:srgbClr val="333399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7" name="Freeform 3">
            <a:extLst>
              <a:ext uri="{FF2B5EF4-FFF2-40B4-BE49-F238E27FC236}">
                <a16:creationId xmlns:a16="http://schemas.microsoft.com/office/drawing/2014/main" id="{631FF7C9-C464-52FC-468C-41E24B6EF448}"/>
              </a:ext>
            </a:extLst>
          </p:cNvPr>
          <p:cNvSpPr>
            <a:spLocks/>
          </p:cNvSpPr>
          <p:nvPr/>
        </p:nvSpPr>
        <p:spPr bwMode="hidden">
          <a:xfrm>
            <a:off x="889000" y="1836738"/>
            <a:ext cx="8255000" cy="5014912"/>
          </a:xfrm>
          <a:custGeom>
            <a:avLst/>
            <a:gdLst>
              <a:gd name="T0" fmla="*/ 0 w 5184"/>
              <a:gd name="T1" fmla="*/ 2147483646 h 3159"/>
              <a:gd name="T2" fmla="*/ 2147483646 w 5184"/>
              <a:gd name="T3" fmla="*/ 2147483646 h 3159"/>
              <a:gd name="T4" fmla="*/ 2147483646 w 5184"/>
              <a:gd name="T5" fmla="*/ 0 h 3159"/>
              <a:gd name="T6" fmla="*/ 0 w 5184"/>
              <a:gd name="T7" fmla="*/ 0 h 3159"/>
              <a:gd name="T8" fmla="*/ 0 w 5184"/>
              <a:gd name="T9" fmla="*/ 2147483646 h 3159"/>
              <a:gd name="T10" fmla="*/ 0 w 5184"/>
              <a:gd name="T11" fmla="*/ 2147483646 h 315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184" h="3159">
                <a:moveTo>
                  <a:pt x="0" y="3159"/>
                </a:moveTo>
                <a:lnTo>
                  <a:pt x="5184" y="3159"/>
                </a:lnTo>
                <a:lnTo>
                  <a:pt x="5184" y="0"/>
                </a:lnTo>
                <a:lnTo>
                  <a:pt x="0" y="0"/>
                </a:lnTo>
                <a:lnTo>
                  <a:pt x="0" y="3159"/>
                </a:lnTo>
                <a:close/>
              </a:path>
            </a:pathLst>
          </a:custGeom>
          <a:gradFill rotWithShape="0">
            <a:gsLst>
              <a:gs pos="0">
                <a:srgbClr val="1D1D56"/>
              </a:gs>
              <a:gs pos="100000">
                <a:srgbClr val="33339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AC46F72-3503-0798-81C7-659B812E5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E0CA1D-0BA6-B3BD-95BD-43788DF742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09606" name="Rectangle 6">
            <a:extLst>
              <a:ext uri="{FF2B5EF4-FFF2-40B4-BE49-F238E27FC236}">
                <a16:creationId xmlns:a16="http://schemas.microsoft.com/office/drawing/2014/main" id="{F4BD08DE-F173-F20B-1552-4971CE5E12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/>
            </a:lvl1pPr>
          </a:lstStyle>
          <a:p>
            <a:pPr>
              <a:defRPr/>
            </a:pPr>
            <a:fld id="{0DEFC946-9E41-4C42-8A8C-0074592520ED}" type="datetime3">
              <a:rPr lang="zh-TW" altLang="en-US"/>
              <a:pPr>
                <a:defRPr/>
              </a:pPr>
              <a:t>115年7月25日</a:t>
            </a:fld>
            <a:endParaRPr lang="en-US" altLang="zh-TW"/>
          </a:p>
        </p:txBody>
      </p:sp>
      <p:sp>
        <p:nvSpPr>
          <p:cNvPr id="409607" name="Rectangle 7">
            <a:extLst>
              <a:ext uri="{FF2B5EF4-FFF2-40B4-BE49-F238E27FC236}">
                <a16:creationId xmlns:a16="http://schemas.microsoft.com/office/drawing/2014/main" id="{D399A0C2-8F6F-C5FD-8B99-7B34329F0F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608" name="Rectangle 8">
            <a:extLst>
              <a:ext uri="{FF2B5EF4-FFF2-40B4-BE49-F238E27FC236}">
                <a16:creationId xmlns:a16="http://schemas.microsoft.com/office/drawing/2014/main" id="{1C7B2F85-C7F7-42DD-2CF4-97D718708E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 i="1">
                <a:solidFill>
                  <a:srgbClr val="CC00CC"/>
                </a:solidFill>
                <a:latin typeface="Monotype Corsiva" pitchFamily="66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33" name="Freeform 9">
            <a:extLst>
              <a:ext uri="{FF2B5EF4-FFF2-40B4-BE49-F238E27FC236}">
                <a16:creationId xmlns:a16="http://schemas.microsoft.com/office/drawing/2014/main" id="{0D551BDB-4711-9097-D14E-6E3C8CE2F4C5}"/>
              </a:ext>
            </a:extLst>
          </p:cNvPr>
          <p:cNvSpPr>
            <a:spLocks/>
          </p:cNvSpPr>
          <p:nvPr/>
        </p:nvSpPr>
        <p:spPr bwMode="ltGray">
          <a:xfrm>
            <a:off x="876300" y="0"/>
            <a:ext cx="19050" cy="1103313"/>
          </a:xfrm>
          <a:custGeom>
            <a:avLst/>
            <a:gdLst>
              <a:gd name="T0" fmla="*/ 2147483646 w 12"/>
              <a:gd name="T1" fmla="*/ 0 h 695"/>
              <a:gd name="T2" fmla="*/ 0 w 12"/>
              <a:gd name="T3" fmla="*/ 0 h 695"/>
              <a:gd name="T4" fmla="*/ 0 w 12"/>
              <a:gd name="T5" fmla="*/ 2147483646 h 695"/>
              <a:gd name="T6" fmla="*/ 2147483646 w 12"/>
              <a:gd name="T7" fmla="*/ 2147483646 h 695"/>
              <a:gd name="T8" fmla="*/ 2147483646 w 12"/>
              <a:gd name="T9" fmla="*/ 0 h 695"/>
              <a:gd name="T10" fmla="*/ 2147483646 w 12"/>
              <a:gd name="T11" fmla="*/ 0 h 69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" h="695">
                <a:moveTo>
                  <a:pt x="12" y="0"/>
                </a:moveTo>
                <a:lnTo>
                  <a:pt x="0" y="0"/>
                </a:lnTo>
                <a:lnTo>
                  <a:pt x="0" y="695"/>
                </a:lnTo>
                <a:lnTo>
                  <a:pt x="12" y="695"/>
                </a:lnTo>
                <a:lnTo>
                  <a:pt x="12" y="0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4" name="Freeform 10">
            <a:extLst>
              <a:ext uri="{FF2B5EF4-FFF2-40B4-BE49-F238E27FC236}">
                <a16:creationId xmlns:a16="http://schemas.microsoft.com/office/drawing/2014/main" id="{D0AB81E8-8604-F6A1-E78A-5C84391D2C21}"/>
              </a:ext>
            </a:extLst>
          </p:cNvPr>
          <p:cNvSpPr>
            <a:spLocks/>
          </p:cNvSpPr>
          <p:nvPr/>
        </p:nvSpPr>
        <p:spPr bwMode="ltGray">
          <a:xfrm>
            <a:off x="876300" y="2570163"/>
            <a:ext cx="19050" cy="4281487"/>
          </a:xfrm>
          <a:custGeom>
            <a:avLst/>
            <a:gdLst>
              <a:gd name="T0" fmla="*/ 0 w 12"/>
              <a:gd name="T1" fmla="*/ 2147483646 h 2697"/>
              <a:gd name="T2" fmla="*/ 2147483646 w 12"/>
              <a:gd name="T3" fmla="*/ 2147483646 h 2697"/>
              <a:gd name="T4" fmla="*/ 2147483646 w 12"/>
              <a:gd name="T5" fmla="*/ 0 h 2697"/>
              <a:gd name="T6" fmla="*/ 0 w 12"/>
              <a:gd name="T7" fmla="*/ 0 h 2697"/>
              <a:gd name="T8" fmla="*/ 0 w 12"/>
              <a:gd name="T9" fmla="*/ 2147483646 h 2697"/>
              <a:gd name="T10" fmla="*/ 0 w 12"/>
              <a:gd name="T11" fmla="*/ 2147483646 h 26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" h="2697">
                <a:moveTo>
                  <a:pt x="0" y="2697"/>
                </a:moveTo>
                <a:lnTo>
                  <a:pt x="12" y="2697"/>
                </a:lnTo>
                <a:lnTo>
                  <a:pt x="12" y="0"/>
                </a:lnTo>
                <a:lnTo>
                  <a:pt x="0" y="0"/>
                </a:lnTo>
                <a:lnTo>
                  <a:pt x="0" y="2697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5" name="Freeform 11">
            <a:extLst>
              <a:ext uri="{FF2B5EF4-FFF2-40B4-BE49-F238E27FC236}">
                <a16:creationId xmlns:a16="http://schemas.microsoft.com/office/drawing/2014/main" id="{42B6258A-0C32-31BC-9E25-E02C3D0DF5FE}"/>
              </a:ext>
            </a:extLst>
          </p:cNvPr>
          <p:cNvSpPr>
            <a:spLocks/>
          </p:cNvSpPr>
          <p:nvPr/>
        </p:nvSpPr>
        <p:spPr bwMode="ltGray">
          <a:xfrm>
            <a:off x="1617663" y="1827213"/>
            <a:ext cx="7523162" cy="19050"/>
          </a:xfrm>
          <a:custGeom>
            <a:avLst/>
            <a:gdLst>
              <a:gd name="T0" fmla="*/ 2147483646 w 4724"/>
              <a:gd name="T1" fmla="*/ 0 h 12"/>
              <a:gd name="T2" fmla="*/ 0 w 4724"/>
              <a:gd name="T3" fmla="*/ 0 h 12"/>
              <a:gd name="T4" fmla="*/ 0 w 4724"/>
              <a:gd name="T5" fmla="*/ 2147483646 h 12"/>
              <a:gd name="T6" fmla="*/ 2147483646 w 4724"/>
              <a:gd name="T7" fmla="*/ 2147483646 h 12"/>
              <a:gd name="T8" fmla="*/ 2147483646 w 4724"/>
              <a:gd name="T9" fmla="*/ 0 h 12"/>
              <a:gd name="T10" fmla="*/ 2147483646 w 4724"/>
              <a:gd name="T11" fmla="*/ 0 h 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724" h="12">
                <a:moveTo>
                  <a:pt x="4724" y="0"/>
                </a:moveTo>
                <a:lnTo>
                  <a:pt x="0" y="0"/>
                </a:lnTo>
                <a:lnTo>
                  <a:pt x="0" y="12"/>
                </a:lnTo>
                <a:lnTo>
                  <a:pt x="4724" y="12"/>
                </a:lnTo>
                <a:lnTo>
                  <a:pt x="4724" y="0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6" name="Freeform 12">
            <a:extLst>
              <a:ext uri="{FF2B5EF4-FFF2-40B4-BE49-F238E27FC236}">
                <a16:creationId xmlns:a16="http://schemas.microsoft.com/office/drawing/2014/main" id="{32D28F05-E3D6-EC75-1AC9-6917FEE7B8DD}"/>
              </a:ext>
            </a:extLst>
          </p:cNvPr>
          <p:cNvSpPr>
            <a:spLocks/>
          </p:cNvSpPr>
          <p:nvPr/>
        </p:nvSpPr>
        <p:spPr bwMode="ltGray">
          <a:xfrm>
            <a:off x="876300" y="2170113"/>
            <a:ext cx="19050" cy="400050"/>
          </a:xfrm>
          <a:custGeom>
            <a:avLst/>
            <a:gdLst>
              <a:gd name="T0" fmla="*/ 0 w 12"/>
              <a:gd name="T1" fmla="*/ 2147483646 h 252"/>
              <a:gd name="T2" fmla="*/ 2147483646 w 12"/>
              <a:gd name="T3" fmla="*/ 2147483646 h 252"/>
              <a:gd name="T4" fmla="*/ 2147483646 w 12"/>
              <a:gd name="T5" fmla="*/ 0 h 252"/>
              <a:gd name="T6" fmla="*/ 0 w 12"/>
              <a:gd name="T7" fmla="*/ 0 h 252"/>
              <a:gd name="T8" fmla="*/ 0 w 12"/>
              <a:gd name="T9" fmla="*/ 2147483646 h 252"/>
              <a:gd name="T10" fmla="*/ 0 w 12"/>
              <a:gd name="T11" fmla="*/ 2147483646 h 2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" h="252">
                <a:moveTo>
                  <a:pt x="0" y="252"/>
                </a:moveTo>
                <a:lnTo>
                  <a:pt x="12" y="252"/>
                </a:lnTo>
                <a:lnTo>
                  <a:pt x="12" y="0"/>
                </a:lnTo>
                <a:lnTo>
                  <a:pt x="0" y="0"/>
                </a:lnTo>
                <a:lnTo>
                  <a:pt x="0" y="25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7" name="Freeform 13">
            <a:extLst>
              <a:ext uri="{FF2B5EF4-FFF2-40B4-BE49-F238E27FC236}">
                <a16:creationId xmlns:a16="http://schemas.microsoft.com/office/drawing/2014/main" id="{D35C88F7-7D2A-360B-0C0B-93365898CE3D}"/>
              </a:ext>
            </a:extLst>
          </p:cNvPr>
          <p:cNvSpPr>
            <a:spLocks/>
          </p:cNvSpPr>
          <p:nvPr/>
        </p:nvSpPr>
        <p:spPr bwMode="ltGray">
          <a:xfrm>
            <a:off x="876300" y="1103313"/>
            <a:ext cx="19050" cy="400050"/>
          </a:xfrm>
          <a:custGeom>
            <a:avLst/>
            <a:gdLst>
              <a:gd name="T0" fmla="*/ 2147483646 w 12"/>
              <a:gd name="T1" fmla="*/ 0 h 252"/>
              <a:gd name="T2" fmla="*/ 0 w 12"/>
              <a:gd name="T3" fmla="*/ 0 h 252"/>
              <a:gd name="T4" fmla="*/ 0 w 12"/>
              <a:gd name="T5" fmla="*/ 2147483646 h 252"/>
              <a:gd name="T6" fmla="*/ 2147483646 w 12"/>
              <a:gd name="T7" fmla="*/ 2147483646 h 252"/>
              <a:gd name="T8" fmla="*/ 2147483646 w 12"/>
              <a:gd name="T9" fmla="*/ 0 h 252"/>
              <a:gd name="T10" fmla="*/ 2147483646 w 12"/>
              <a:gd name="T11" fmla="*/ 0 h 2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" h="252">
                <a:moveTo>
                  <a:pt x="12" y="0"/>
                </a:moveTo>
                <a:lnTo>
                  <a:pt x="0" y="0"/>
                </a:lnTo>
                <a:lnTo>
                  <a:pt x="0" y="252"/>
                </a:lnTo>
                <a:lnTo>
                  <a:pt x="12" y="252"/>
                </a:lnTo>
                <a:lnTo>
                  <a:pt x="12" y="0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8" name="Freeform 14">
            <a:extLst>
              <a:ext uri="{FF2B5EF4-FFF2-40B4-BE49-F238E27FC236}">
                <a16:creationId xmlns:a16="http://schemas.microsoft.com/office/drawing/2014/main" id="{09741E0B-4EC1-0298-3842-3AD959EED05D}"/>
              </a:ext>
            </a:extLst>
          </p:cNvPr>
          <p:cNvSpPr>
            <a:spLocks/>
          </p:cNvSpPr>
          <p:nvPr/>
        </p:nvSpPr>
        <p:spPr bwMode="ltGray">
          <a:xfrm>
            <a:off x="876300" y="1503363"/>
            <a:ext cx="19050" cy="666750"/>
          </a:xfrm>
          <a:custGeom>
            <a:avLst/>
            <a:gdLst>
              <a:gd name="T0" fmla="*/ 0 w 12"/>
              <a:gd name="T1" fmla="*/ 0 h 420"/>
              <a:gd name="T2" fmla="*/ 0 w 12"/>
              <a:gd name="T3" fmla="*/ 2147483646 h 420"/>
              <a:gd name="T4" fmla="*/ 2147483646 w 12"/>
              <a:gd name="T5" fmla="*/ 2147483646 h 420"/>
              <a:gd name="T6" fmla="*/ 2147483646 w 12"/>
              <a:gd name="T7" fmla="*/ 0 h 420"/>
              <a:gd name="T8" fmla="*/ 0 w 12"/>
              <a:gd name="T9" fmla="*/ 0 h 420"/>
              <a:gd name="T10" fmla="*/ 0 w 12"/>
              <a:gd name="T11" fmla="*/ 0 h 4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" h="420">
                <a:moveTo>
                  <a:pt x="0" y="0"/>
                </a:moveTo>
                <a:lnTo>
                  <a:pt x="0" y="420"/>
                </a:lnTo>
                <a:lnTo>
                  <a:pt x="12" y="420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3333FF"/>
              </a:gs>
              <a:gs pos="50000">
                <a:srgbClr val="FFFFFF"/>
              </a:gs>
              <a:gs pos="100000">
                <a:srgbClr val="3333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9" name="Freeform 15">
            <a:extLst>
              <a:ext uri="{FF2B5EF4-FFF2-40B4-BE49-F238E27FC236}">
                <a16:creationId xmlns:a16="http://schemas.microsoft.com/office/drawing/2014/main" id="{CAA29AAC-2859-619D-087C-9942AD39D43F}"/>
              </a:ext>
            </a:extLst>
          </p:cNvPr>
          <p:cNvSpPr>
            <a:spLocks/>
          </p:cNvSpPr>
          <p:nvPr/>
        </p:nvSpPr>
        <p:spPr bwMode="ltGray">
          <a:xfrm>
            <a:off x="0" y="1827213"/>
            <a:ext cx="557213" cy="19050"/>
          </a:xfrm>
          <a:custGeom>
            <a:avLst/>
            <a:gdLst>
              <a:gd name="T0" fmla="*/ 0 w 251"/>
              <a:gd name="T1" fmla="*/ 0 h 12"/>
              <a:gd name="T2" fmla="*/ 0 w 251"/>
              <a:gd name="T3" fmla="*/ 2147483646 h 12"/>
              <a:gd name="T4" fmla="*/ 2147483646 w 251"/>
              <a:gd name="T5" fmla="*/ 2147483646 h 12"/>
              <a:gd name="T6" fmla="*/ 2147483646 w 251"/>
              <a:gd name="T7" fmla="*/ 0 h 12"/>
              <a:gd name="T8" fmla="*/ 0 w 251"/>
              <a:gd name="T9" fmla="*/ 0 h 12"/>
              <a:gd name="T10" fmla="*/ 0 w 251"/>
              <a:gd name="T11" fmla="*/ 0 h 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1" h="12">
                <a:moveTo>
                  <a:pt x="0" y="0"/>
                </a:moveTo>
                <a:lnTo>
                  <a:pt x="0" y="12"/>
                </a:lnTo>
                <a:lnTo>
                  <a:pt x="251" y="12"/>
                </a:lnTo>
                <a:lnTo>
                  <a:pt x="251" y="0"/>
                </a:lnTo>
                <a:lnTo>
                  <a:pt x="0" y="0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40" name="Freeform 16">
            <a:extLst>
              <a:ext uri="{FF2B5EF4-FFF2-40B4-BE49-F238E27FC236}">
                <a16:creationId xmlns:a16="http://schemas.microsoft.com/office/drawing/2014/main" id="{7B45BE0D-C7B9-09F9-FBA9-A602B308CD62}"/>
              </a:ext>
            </a:extLst>
          </p:cNvPr>
          <p:cNvSpPr>
            <a:spLocks/>
          </p:cNvSpPr>
          <p:nvPr/>
        </p:nvSpPr>
        <p:spPr bwMode="ltGray">
          <a:xfrm>
            <a:off x="1217613" y="1827213"/>
            <a:ext cx="400050" cy="19050"/>
          </a:xfrm>
          <a:custGeom>
            <a:avLst/>
            <a:gdLst>
              <a:gd name="T0" fmla="*/ 2147483646 w 251"/>
              <a:gd name="T1" fmla="*/ 0 h 12"/>
              <a:gd name="T2" fmla="*/ 0 w 251"/>
              <a:gd name="T3" fmla="*/ 0 h 12"/>
              <a:gd name="T4" fmla="*/ 0 w 251"/>
              <a:gd name="T5" fmla="*/ 2147483646 h 12"/>
              <a:gd name="T6" fmla="*/ 2147483646 w 251"/>
              <a:gd name="T7" fmla="*/ 2147483646 h 12"/>
              <a:gd name="T8" fmla="*/ 2147483646 w 251"/>
              <a:gd name="T9" fmla="*/ 0 h 12"/>
              <a:gd name="T10" fmla="*/ 2147483646 w 251"/>
              <a:gd name="T11" fmla="*/ 0 h 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1" h="12">
                <a:moveTo>
                  <a:pt x="251" y="0"/>
                </a:moveTo>
                <a:lnTo>
                  <a:pt x="0" y="0"/>
                </a:lnTo>
                <a:lnTo>
                  <a:pt x="0" y="12"/>
                </a:lnTo>
                <a:lnTo>
                  <a:pt x="251" y="12"/>
                </a:lnTo>
                <a:lnTo>
                  <a:pt x="251" y="0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9617" name="Freeform 17">
            <a:extLst>
              <a:ext uri="{FF2B5EF4-FFF2-40B4-BE49-F238E27FC236}">
                <a16:creationId xmlns:a16="http://schemas.microsoft.com/office/drawing/2014/main" id="{DDF6FF5D-7381-856A-ECE7-2E3D970B01C5}"/>
              </a:ext>
            </a:extLst>
          </p:cNvPr>
          <p:cNvSpPr>
            <a:spLocks/>
          </p:cNvSpPr>
          <p:nvPr/>
        </p:nvSpPr>
        <p:spPr bwMode="ltGray">
          <a:xfrm>
            <a:off x="552450" y="1827213"/>
            <a:ext cx="665163" cy="19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2"/>
              </a:cxn>
              <a:cxn ang="0">
                <a:pos x="418" y="12"/>
              </a:cxn>
              <a:cxn ang="0">
                <a:pos x="418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418" h="12">
                <a:moveTo>
                  <a:pt x="0" y="0"/>
                </a:moveTo>
                <a:lnTo>
                  <a:pt x="0" y="12"/>
                </a:lnTo>
                <a:lnTo>
                  <a:pt x="418" y="12"/>
                </a:lnTo>
                <a:lnTo>
                  <a:pt x="418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3333FF"/>
              </a:gs>
              <a:gs pos="50000">
                <a:schemeClr val="bg1"/>
              </a:gs>
              <a:gs pos="100000">
                <a:srgbClr val="3333FF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5400" b="1">
          <a:solidFill>
            <a:srgbClr val="FFFF00"/>
          </a:solidFill>
          <a:latin typeface="Times New Roman" pitchFamily="18" charset="0"/>
          <a:ea typeface="標楷體" pitchFamily="65" charset="-120"/>
        </a:defRPr>
      </a:lvl9pPr>
    </p:titleStyle>
    <p:bodyStyle>
      <a:lvl1pPr marL="381000" indent="-381000" algn="l" rtl="0" eaLnBrk="0" fontAlgn="base" hangingPunct="0">
        <a:spcBef>
          <a:spcPct val="20000"/>
        </a:spcBef>
        <a:spcAft>
          <a:spcPct val="0"/>
        </a:spcAft>
        <a:buBlip>
          <a:blip r:embed="rId13"/>
        </a:buBlip>
        <a:defRPr kumimoji="1" sz="3200">
          <a:solidFill>
            <a:schemeClr val="bg1"/>
          </a:solidFill>
          <a:latin typeface="+mn-lt"/>
          <a:ea typeface="+mn-ea"/>
          <a:cs typeface="+mn-cs"/>
        </a:defRPr>
      </a:lvl1pPr>
      <a:lvl2pPr marL="952500" indent="-3810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kumimoji="1" sz="2800">
          <a:solidFill>
            <a:schemeClr val="bg1"/>
          </a:solidFill>
          <a:latin typeface="+mn-lt"/>
          <a:ea typeface="+mn-ea"/>
        </a:defRPr>
      </a:lvl2pPr>
      <a:lvl3pPr marL="1524000" indent="-37465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bg1"/>
          </a:solidFill>
          <a:latin typeface="+mn-lt"/>
          <a:ea typeface="+mn-ea"/>
        </a:defRPr>
      </a:lvl3pPr>
      <a:lvl4pPr marL="19431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1"/>
          </a:solidFill>
          <a:latin typeface="+mn-lt"/>
          <a:ea typeface="+mn-ea"/>
        </a:defRPr>
      </a:lvl4pPr>
      <a:lvl5pPr marL="2362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5pPr>
      <a:lvl6pPr marL="2819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6pPr>
      <a:lvl7pPr marL="3276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7pPr>
      <a:lvl8pPr marL="3733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8pPr>
      <a:lvl9pPr marL="4191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E0E88D-2C09-0337-9648-69184B12E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1052513"/>
            <a:ext cx="7772400" cy="5545137"/>
          </a:xfrm>
        </p:spPr>
        <p:txBody>
          <a:bodyPr/>
          <a:lstStyle/>
          <a:p>
            <a:pPr>
              <a:defRPr/>
            </a:pPr>
            <a:r>
              <a:rPr lang="zh-TW" altLang="en-US" sz="2800" dirty="0">
                <a:latin typeface="+mn-ea"/>
              </a:rPr>
              <a:t>治療過程與回診追蹤之</a:t>
            </a:r>
            <a:r>
              <a:rPr lang="en-US" altLang="zh-TW" sz="2800" dirty="0">
                <a:latin typeface="+mn-ea"/>
              </a:rPr>
              <a:t>X</a:t>
            </a:r>
            <a:r>
              <a:rPr lang="zh-TW" altLang="en-US" sz="2800" dirty="0">
                <a:latin typeface="+mn-ea"/>
              </a:rPr>
              <a:t>光片或臨床照片，需使用</a:t>
            </a:r>
            <a:r>
              <a:rPr lang="zh-TW" altLang="en-US" sz="2800" b="1" dirty="0">
                <a:solidFill>
                  <a:srgbClr val="FFFF00"/>
                </a:solidFill>
                <a:latin typeface="+mn-ea"/>
              </a:rPr>
              <a:t>第三張投影片範本</a:t>
            </a:r>
            <a:r>
              <a:rPr lang="zh-TW" altLang="en-US" sz="2800" dirty="0">
                <a:latin typeface="+mn-ea"/>
              </a:rPr>
              <a:t>規範製作，每一張投影片</a:t>
            </a:r>
            <a:r>
              <a:rPr lang="zh-TW" altLang="en-US" sz="2800" b="1" dirty="0">
                <a:solidFill>
                  <a:srgbClr val="FFFF00"/>
                </a:solidFill>
                <a:latin typeface="+mn-ea"/>
              </a:rPr>
              <a:t>限放一張影像</a:t>
            </a:r>
            <a:r>
              <a:rPr lang="zh-TW" altLang="en-US" sz="2800" dirty="0">
                <a:latin typeface="+mn-ea"/>
              </a:rPr>
              <a:t>。</a:t>
            </a:r>
            <a:endParaRPr lang="en-US" altLang="zh-TW" sz="2800" dirty="0">
              <a:latin typeface="+mn-ea"/>
            </a:endParaRPr>
          </a:p>
          <a:p>
            <a:pPr>
              <a:defRPr/>
            </a:pPr>
            <a:r>
              <a:rPr lang="zh-TW" altLang="en-US" sz="2800" dirty="0"/>
              <a:t>影像文字說明字體需</a:t>
            </a:r>
            <a:r>
              <a:rPr lang="zh-TW" altLang="en-US" sz="2800" dirty="0">
                <a:solidFill>
                  <a:srgbClr val="FFFF00"/>
                </a:solidFill>
              </a:rPr>
              <a:t>大於</a:t>
            </a:r>
            <a:r>
              <a:rPr lang="en-US" altLang="zh-TW" sz="2800" dirty="0">
                <a:solidFill>
                  <a:srgbClr val="FFFF00"/>
                </a:solidFill>
              </a:rPr>
              <a:t>36</a:t>
            </a:r>
            <a:r>
              <a:rPr lang="zh-TW" altLang="en-US" sz="2800" dirty="0">
                <a:solidFill>
                  <a:srgbClr val="FFFF00"/>
                </a:solidFill>
              </a:rPr>
              <a:t>字體</a:t>
            </a:r>
            <a:r>
              <a:rPr lang="zh-TW" altLang="en-US" sz="2800" dirty="0"/>
              <a:t>，且內容不得超過影像說明區域。</a:t>
            </a:r>
            <a:endParaRPr lang="en-US" altLang="zh-TW" sz="2800" dirty="0"/>
          </a:p>
          <a:p>
            <a:pPr>
              <a:defRPr/>
            </a:pPr>
            <a:r>
              <a:rPr lang="en-US" altLang="zh-TW" sz="2800" b="1" dirty="0">
                <a:solidFill>
                  <a:srgbClr val="FFFF00"/>
                </a:solidFill>
                <a:latin typeface="+mn-ea"/>
              </a:rPr>
              <a:t>X </a:t>
            </a:r>
            <a:r>
              <a:rPr lang="zh-TW" altLang="en-US" sz="2800" b="1" dirty="0">
                <a:solidFill>
                  <a:srgbClr val="FFFF00"/>
                </a:solidFill>
                <a:latin typeface="+mn-ea"/>
              </a:rPr>
              <a:t>光片或臨床影像區不得加入文字說明</a:t>
            </a:r>
            <a:r>
              <a:rPr lang="zh-TW" altLang="en-US" sz="2800" dirty="0">
                <a:latin typeface="+mn-ea"/>
              </a:rPr>
              <a:t>，影像需標註方位</a:t>
            </a:r>
            <a:r>
              <a:rPr lang="en-US" altLang="zh-TW" sz="2800" dirty="0">
                <a:latin typeface="+mn-ea"/>
              </a:rPr>
              <a:t>(</a:t>
            </a:r>
            <a:r>
              <a:rPr lang="zh-TW" altLang="en-US" sz="2800" dirty="0">
                <a:latin typeface="+mn-ea"/>
              </a:rPr>
              <a:t>例</a:t>
            </a:r>
            <a:r>
              <a:rPr lang="en-US" altLang="zh-TW" sz="2800" dirty="0">
                <a:latin typeface="+mn-ea"/>
              </a:rPr>
              <a:t>:M)</a:t>
            </a:r>
            <a:r>
              <a:rPr lang="zh-TW" altLang="en-US" sz="2800" dirty="0">
                <a:latin typeface="+mn-ea"/>
              </a:rPr>
              <a:t>且大小須完全佔據該區不得過小。</a:t>
            </a:r>
            <a:endParaRPr lang="en-US" altLang="zh-TW" sz="2800" dirty="0">
              <a:latin typeface="+mn-ea"/>
            </a:endParaRPr>
          </a:p>
          <a:p>
            <a:pPr>
              <a:defRPr/>
            </a:pPr>
            <a:r>
              <a:rPr lang="zh-TW" altLang="en-US" sz="2800" dirty="0">
                <a:latin typeface="+mn-ea"/>
              </a:rPr>
              <a:t>每個病例最後一張投影片內容應使用</a:t>
            </a:r>
            <a:r>
              <a:rPr lang="zh-TW" altLang="en-US" sz="2800" b="1" dirty="0">
                <a:solidFill>
                  <a:srgbClr val="FFFF00"/>
                </a:solidFill>
                <a:latin typeface="+mn-ea"/>
              </a:rPr>
              <a:t>第四張投影片範本</a:t>
            </a:r>
            <a:r>
              <a:rPr lang="zh-TW" altLang="en-US" sz="2800" dirty="0">
                <a:latin typeface="+mn-ea"/>
              </a:rPr>
              <a:t>規定製作。</a:t>
            </a:r>
            <a:endParaRPr lang="en-US" altLang="zh-TW" sz="2800" dirty="0">
              <a:latin typeface="+mn-ea"/>
            </a:endParaRPr>
          </a:p>
          <a:p>
            <a:pPr>
              <a:defRPr/>
            </a:pPr>
            <a:r>
              <a:rPr lang="zh-TW" altLang="en-US" sz="2800" dirty="0">
                <a:latin typeface="+mn-ea"/>
              </a:rPr>
              <a:t>繳交口試病例資料時，請將</a:t>
            </a:r>
            <a:r>
              <a:rPr lang="zh-TW" altLang="en-US" sz="2800" dirty="0">
                <a:solidFill>
                  <a:srgbClr val="FFFF00"/>
                </a:solidFill>
                <a:latin typeface="+mn-ea"/>
              </a:rPr>
              <a:t>範本中白線標示與文字說明刪除</a:t>
            </a:r>
            <a:r>
              <a:rPr lang="zh-TW" altLang="en-US" sz="2800" dirty="0">
                <a:latin typeface="+mn-ea"/>
              </a:rPr>
              <a:t>，以利版面簡潔。</a:t>
            </a:r>
            <a:endParaRPr lang="en-US" altLang="zh-TW" sz="2800" dirty="0">
              <a:latin typeface="+mn-ea"/>
            </a:endParaRPr>
          </a:p>
          <a:p>
            <a:pPr marL="0" indent="0">
              <a:buFontTx/>
              <a:buNone/>
              <a:defRPr/>
            </a:pPr>
            <a:endParaRPr lang="zh-TW" altLang="en-US" sz="2800" dirty="0">
              <a:latin typeface="+mn-ea"/>
            </a:endParaRPr>
          </a:p>
          <a:p>
            <a:pPr>
              <a:defRPr/>
            </a:pPr>
            <a:endParaRPr lang="en-US" altLang="zh-TW" sz="2800" dirty="0"/>
          </a:p>
          <a:p>
            <a:pPr>
              <a:defRPr/>
            </a:pPr>
            <a:endParaRPr lang="zh-TW" altLang="en-US" sz="2800" dirty="0"/>
          </a:p>
        </p:txBody>
      </p:sp>
      <p:sp>
        <p:nvSpPr>
          <p:cNvPr id="4099" name="矩形 1">
            <a:extLst>
              <a:ext uri="{FF2B5EF4-FFF2-40B4-BE49-F238E27FC236}">
                <a16:creationId xmlns:a16="http://schemas.microsoft.com/office/drawing/2014/main" id="{D937C18E-5AE1-B664-9637-83F6ABCFA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25438"/>
            <a:ext cx="73040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zh-TW" altLang="en-US" sz="4000" b="1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治療影像</a:t>
            </a:r>
            <a:r>
              <a:rPr lang="en-US" altLang="zh-TW" sz="4000" b="1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PPT</a:t>
            </a:r>
            <a:r>
              <a:rPr lang="zh-TW" altLang="en-US" sz="4000" b="1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範本使用說明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6FB077D-F955-3503-63AF-481A7CFAA7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2997200"/>
            <a:ext cx="7772400" cy="1470025"/>
          </a:xfrm>
        </p:spPr>
        <p:txBody>
          <a:bodyPr/>
          <a:lstStyle/>
          <a:p>
            <a:pPr eaLnBrk="1" hangingPunct="1"/>
            <a:r>
              <a:rPr lang="zh-TW" altLang="en-US" sz="4000">
                <a:solidFill>
                  <a:srgbClr val="FFC000"/>
                </a:solidFill>
                <a:sym typeface="Wingdings" panose="05000000000000000000" pitchFamily="2" charset="2"/>
              </a:rPr>
              <a:t></a:t>
            </a:r>
            <a:r>
              <a:rPr lang="zh-TW" altLang="en-US" sz="4000">
                <a:solidFill>
                  <a:srgbClr val="FFC000"/>
                </a:solidFill>
              </a:rPr>
              <a:t>年度</a:t>
            </a:r>
            <a:r>
              <a:rPr lang="zh-TW" altLang="en-US" sz="4000">
                <a:solidFill>
                  <a:srgbClr val="FFCC00"/>
                </a:solidFill>
              </a:rPr>
              <a:t>專科醫師口試病歷資料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C37E099-8377-6078-55E5-C533063B13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87450" y="1844675"/>
            <a:ext cx="6400800" cy="1752600"/>
          </a:xfrm>
        </p:spPr>
        <p:txBody>
          <a:bodyPr/>
          <a:lstStyle/>
          <a:p>
            <a:pPr eaLnBrk="1" hangingPunct="1"/>
            <a:r>
              <a:rPr lang="zh-TW" altLang="en-US" sz="4800">
                <a:sym typeface="Wingdings" panose="05000000000000000000" pitchFamily="2" charset="2"/>
              </a:rPr>
              <a:t>中華民國牙髓病學會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607047BB-2B7A-6E15-66F0-C505C87151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341438"/>
            <a:ext cx="7772400" cy="1728787"/>
          </a:xfrm>
        </p:spPr>
        <p:txBody>
          <a:bodyPr/>
          <a:lstStyle/>
          <a:p>
            <a:pPr eaLnBrk="1" hangingPunct="1"/>
            <a:r>
              <a:rPr lang="zh-TW" altLang="en-US" sz="4800"/>
              <a:t>專科醫師口試病例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B0B5E3C1-2465-FC7B-7996-D9F316ECDB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1438" y="3429000"/>
            <a:ext cx="8821737" cy="3024188"/>
          </a:xfrm>
        </p:spPr>
        <p:txBody>
          <a:bodyPr/>
          <a:lstStyle/>
          <a:p>
            <a:pPr eaLnBrk="1" hangingPunct="1"/>
            <a:r>
              <a:rPr lang="zh-TW" altLang="en-US" sz="3600"/>
              <a:t>第</a:t>
            </a:r>
            <a:r>
              <a:rPr lang="zh-TW" altLang="en-US">
                <a:sym typeface="Wingdings" panose="05000000000000000000" pitchFamily="2" charset="2"/>
              </a:rPr>
              <a:t></a:t>
            </a:r>
            <a:r>
              <a:rPr lang="zh-TW" altLang="en-US" sz="3600"/>
              <a:t>類病例</a:t>
            </a:r>
            <a:endParaRPr lang="en-US" altLang="zh-TW" sz="3600"/>
          </a:p>
          <a:p>
            <a:pPr eaLnBrk="1" hangingPunct="1">
              <a:spcBef>
                <a:spcPts val="2400"/>
              </a:spcBef>
            </a:pPr>
            <a:r>
              <a:rPr lang="zh-TW" altLang="en-US" sz="2800"/>
              <a:t>分類說明（例：大於</a:t>
            </a:r>
            <a:r>
              <a:rPr lang="en-US" altLang="zh-TW" sz="2800"/>
              <a:t>3 x 3 mm2</a:t>
            </a:r>
            <a:r>
              <a:rPr lang="zh-TW" altLang="en-US" sz="2800"/>
              <a:t>病灶）</a:t>
            </a:r>
            <a:endParaRPr lang="en-US" altLang="zh-TW" sz="2800"/>
          </a:p>
          <a:p>
            <a:pPr eaLnBrk="1" hangingPunct="1"/>
            <a:r>
              <a:rPr lang="en-US" altLang="zh-TW" sz="2800">
                <a:sym typeface="Wingdings" panose="05000000000000000000" pitchFamily="2" charset="2"/>
              </a:rPr>
              <a:t>Tooth </a:t>
            </a:r>
            <a:r>
              <a:rPr lang="zh-TW" altLang="en-US" sz="2800">
                <a:sym typeface="Wingdings" panose="05000000000000000000" pitchFamily="2" charset="2"/>
              </a:rPr>
              <a:t></a:t>
            </a:r>
            <a:endParaRPr lang="en-US" altLang="zh-TW" sz="2800">
              <a:sym typeface="Wingdings" panose="05000000000000000000" pitchFamily="2" charset="2"/>
            </a:endParaRPr>
          </a:p>
          <a:p>
            <a:pPr eaLnBrk="1" hangingPunct="1">
              <a:spcBef>
                <a:spcPts val="2400"/>
              </a:spcBef>
            </a:pPr>
            <a:r>
              <a:rPr lang="zh-TW" altLang="en-US" sz="4000">
                <a:sym typeface="Wingdings" panose="05000000000000000000" pitchFamily="2" charset="2"/>
              </a:rPr>
              <a:t></a:t>
            </a:r>
            <a:endParaRPr lang="zh-TW" altLang="en-US" sz="4000"/>
          </a:p>
          <a:p>
            <a:pPr eaLnBrk="1" hangingPunct="1"/>
            <a:endParaRPr lang="zh-TW" altLang="en-US"/>
          </a:p>
        </p:txBody>
      </p:sp>
      <p:sp>
        <p:nvSpPr>
          <p:cNvPr id="6148" name="Line 7">
            <a:extLst>
              <a:ext uri="{FF2B5EF4-FFF2-40B4-BE49-F238E27FC236}">
                <a16:creationId xmlns:a16="http://schemas.microsoft.com/office/drawing/2014/main" id="{127D4FF0-B863-F705-CBC4-5B5ECD08F2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2288" y="3794125"/>
            <a:ext cx="1346200" cy="26988"/>
          </a:xfrm>
          <a:prstGeom prst="line">
            <a:avLst/>
          </a:prstGeom>
          <a:noFill/>
          <a:ln w="762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6149" name="Text Box 8">
            <a:extLst>
              <a:ext uri="{FF2B5EF4-FFF2-40B4-BE49-F238E27FC236}">
                <a16:creationId xmlns:a16="http://schemas.microsoft.com/office/drawing/2014/main" id="{29F576A8-D523-793E-93C9-7510E3F9A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3676650"/>
            <a:ext cx="1584325" cy="4000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第幾類病例</a:t>
            </a:r>
          </a:p>
        </p:txBody>
      </p:sp>
      <p:sp>
        <p:nvSpPr>
          <p:cNvPr id="6150" name="Line 10">
            <a:extLst>
              <a:ext uri="{FF2B5EF4-FFF2-40B4-BE49-F238E27FC236}">
                <a16:creationId xmlns:a16="http://schemas.microsoft.com/office/drawing/2014/main" id="{EF71306E-B7FC-EF48-3AA4-F151006265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5894388"/>
            <a:ext cx="863600" cy="3175"/>
          </a:xfrm>
          <a:prstGeom prst="line">
            <a:avLst/>
          </a:prstGeom>
          <a:noFill/>
          <a:ln w="762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6151" name="Text Box 11">
            <a:extLst>
              <a:ext uri="{FF2B5EF4-FFF2-40B4-BE49-F238E27FC236}">
                <a16:creationId xmlns:a16="http://schemas.microsoft.com/office/drawing/2014/main" id="{72F8C77F-0EDB-47D6-B8C9-5B9D65BFF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661025"/>
            <a:ext cx="1512888" cy="46672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CCFF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4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病患姓名</a:t>
            </a:r>
          </a:p>
        </p:txBody>
      </p:sp>
      <p:sp>
        <p:nvSpPr>
          <p:cNvPr id="6152" name="Line 7">
            <a:extLst>
              <a:ext uri="{FF2B5EF4-FFF2-40B4-BE49-F238E27FC236}">
                <a16:creationId xmlns:a16="http://schemas.microsoft.com/office/drawing/2014/main" id="{BD09F9A2-AB35-A494-96E6-2D7D80BA17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35600" y="5067300"/>
            <a:ext cx="1268413" cy="0"/>
          </a:xfrm>
          <a:prstGeom prst="line">
            <a:avLst/>
          </a:prstGeom>
          <a:noFill/>
          <a:ln w="762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6153" name="Text Box 8">
            <a:extLst>
              <a:ext uri="{FF2B5EF4-FFF2-40B4-BE49-F238E27FC236}">
                <a16:creationId xmlns:a16="http://schemas.microsoft.com/office/drawing/2014/main" id="{282CBFB5-876C-D127-EFCD-AAF3FA6D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013" y="4924425"/>
            <a:ext cx="1225550" cy="4000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治療齒位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>
            <a:extLst>
              <a:ext uri="{FF2B5EF4-FFF2-40B4-BE49-F238E27FC236}">
                <a16:creationId xmlns:a16="http://schemas.microsoft.com/office/drawing/2014/main" id="{26C2B4BB-3851-6E97-660F-F0FCD49102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07375" cy="143986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zh-TW"/>
          </a:p>
        </p:txBody>
      </p:sp>
      <p:sp>
        <p:nvSpPr>
          <p:cNvPr id="7171" name="Rectangle 8">
            <a:extLst>
              <a:ext uri="{FF2B5EF4-FFF2-40B4-BE49-F238E27FC236}">
                <a16:creationId xmlns:a16="http://schemas.microsoft.com/office/drawing/2014/main" id="{11ECB476-B11B-85BD-D337-3885ED58E2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981200"/>
            <a:ext cx="8207375" cy="4114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7172" name="Line 9">
            <a:extLst>
              <a:ext uri="{FF2B5EF4-FFF2-40B4-BE49-F238E27FC236}">
                <a16:creationId xmlns:a16="http://schemas.microsoft.com/office/drawing/2014/main" id="{647413F5-92B4-C586-95D4-AC4A73ECB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1989138"/>
            <a:ext cx="0" cy="41036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7173" name="Text Box 10">
            <a:extLst>
              <a:ext uri="{FF2B5EF4-FFF2-40B4-BE49-F238E27FC236}">
                <a16:creationId xmlns:a16="http://schemas.microsoft.com/office/drawing/2014/main" id="{95C38713-7D95-9A87-395C-5A4B336FC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75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</a:p>
        </p:txBody>
      </p:sp>
      <p:sp>
        <p:nvSpPr>
          <p:cNvPr id="7174" name="Line 11">
            <a:extLst>
              <a:ext uri="{FF2B5EF4-FFF2-40B4-BE49-F238E27FC236}">
                <a16:creationId xmlns:a16="http://schemas.microsoft.com/office/drawing/2014/main" id="{0583DA00-9C62-B5B3-7992-9217C4799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60350"/>
            <a:ext cx="0" cy="13684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7175" name="Text Box 12">
            <a:extLst>
              <a:ext uri="{FF2B5EF4-FFF2-40B4-BE49-F238E27FC236}">
                <a16:creationId xmlns:a16="http://schemas.microsoft.com/office/drawing/2014/main" id="{49B13CB8-2BD2-8F13-1FE0-666A75331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04813"/>
            <a:ext cx="712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影像說明區：佔總高度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20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,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不得低於箭頭所指示之背景橫線</a:t>
            </a:r>
          </a:p>
        </p:txBody>
      </p:sp>
      <p:sp>
        <p:nvSpPr>
          <p:cNvPr id="7176" name="Text Box 13">
            <a:extLst>
              <a:ext uri="{FF2B5EF4-FFF2-40B4-BE49-F238E27FC236}">
                <a16:creationId xmlns:a16="http://schemas.microsoft.com/office/drawing/2014/main" id="{2C2B669E-C004-F51D-B5C0-BE2102A65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644900"/>
            <a:ext cx="6265862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 </a:t>
            </a:r>
            <a:r>
              <a:rPr lang="zh-TW" altLang="en-US" sz="4000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光片或臨床影像區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3600" b="1">
                <a:latin typeface="Arial" panose="020B0604020202020204" pitchFamily="34" charset="0"/>
                <a:ea typeface="新細明體" panose="02020500000000000000" pitchFamily="18" charset="-120"/>
              </a:rPr>
              <a:t>限一張</a:t>
            </a:r>
          </a:p>
        </p:txBody>
      </p:sp>
      <p:sp>
        <p:nvSpPr>
          <p:cNvPr id="7177" name="Text Box 14">
            <a:extLst>
              <a:ext uri="{FF2B5EF4-FFF2-40B4-BE49-F238E27FC236}">
                <a16:creationId xmlns:a16="http://schemas.microsoft.com/office/drawing/2014/main" id="{B24EF200-3F5E-0D5B-694E-911523F3A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6237288"/>
            <a:ext cx="2159000" cy="376237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  <a:ea typeface="新細明體" panose="02020500000000000000" pitchFamily="18" charset="-120"/>
                <a:sym typeface="Wingdings" panose="05000000000000000000" pitchFamily="2" charset="2"/>
              </a:rPr>
              <a:t>影像攝取時間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  <a:sym typeface="Wingdings" panose="05000000000000000000" pitchFamily="2" charset="2"/>
            </a:endParaRPr>
          </a:p>
        </p:txBody>
      </p:sp>
      <p:sp>
        <p:nvSpPr>
          <p:cNvPr id="7178" name="AutoShape 15">
            <a:extLst>
              <a:ext uri="{FF2B5EF4-FFF2-40B4-BE49-F238E27FC236}">
                <a16:creationId xmlns:a16="http://schemas.microsoft.com/office/drawing/2014/main" id="{EA4B9858-605B-A3D3-3118-B969B84D2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7179" name="AutoShape 16">
            <a:extLst>
              <a:ext uri="{FF2B5EF4-FFF2-40B4-BE49-F238E27FC236}">
                <a16:creationId xmlns:a16="http://schemas.microsoft.com/office/drawing/2014/main" id="{EA64A3BA-F302-52D0-DD9F-8B4178E86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FCEC6D2-75FE-6DF6-15E1-CC461969C1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07375" cy="143986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/>
              <a:t>術前與術後追蹤比較</a:t>
            </a:r>
            <a:endParaRPr lang="en-US" altLang="zh-TW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323CF39-10C3-471C-25BB-F781CCD7C8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981200"/>
            <a:ext cx="8207375" cy="4114800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8196" name="Line 4">
            <a:extLst>
              <a:ext uri="{FF2B5EF4-FFF2-40B4-BE49-F238E27FC236}">
                <a16:creationId xmlns:a16="http://schemas.microsoft.com/office/drawing/2014/main" id="{BE7B1917-6FC3-6DF6-B4C1-06A1D18A9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1989138"/>
            <a:ext cx="0" cy="41036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1F341F65-BC67-85D4-E29B-C2C426A22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75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</a:p>
        </p:txBody>
      </p:sp>
      <p:sp>
        <p:nvSpPr>
          <p:cNvPr id="8198" name="Line 6">
            <a:extLst>
              <a:ext uri="{FF2B5EF4-FFF2-40B4-BE49-F238E27FC236}">
                <a16:creationId xmlns:a16="http://schemas.microsoft.com/office/drawing/2014/main" id="{47538BC0-5C70-EAC2-2024-FECDD2725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60350"/>
            <a:ext cx="0" cy="13684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TW" altLang="en-US"/>
          </a:p>
        </p:txBody>
      </p:sp>
      <p:sp>
        <p:nvSpPr>
          <p:cNvPr id="8199" name="Text Box 7">
            <a:extLst>
              <a:ext uri="{FF2B5EF4-FFF2-40B4-BE49-F238E27FC236}">
                <a16:creationId xmlns:a16="http://schemas.microsoft.com/office/drawing/2014/main" id="{057D421C-231A-84E5-934C-A533D2296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33375"/>
            <a:ext cx="712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影像說明區：佔總高度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20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％</a:t>
            </a: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,</a:t>
            </a:r>
            <a:r>
              <a:rPr lang="zh-TW" altLang="en-US" sz="2000">
                <a:latin typeface="Arial" panose="020B0604020202020204" pitchFamily="34" charset="0"/>
                <a:ea typeface="新細明體" panose="02020500000000000000" pitchFamily="18" charset="-120"/>
              </a:rPr>
              <a:t>不得低於箭頭所指示之背景橫線</a:t>
            </a:r>
          </a:p>
        </p:txBody>
      </p:sp>
      <p:sp>
        <p:nvSpPr>
          <p:cNvPr id="8200" name="AutoShape 10">
            <a:extLst>
              <a:ext uri="{FF2B5EF4-FFF2-40B4-BE49-F238E27FC236}">
                <a16:creationId xmlns:a16="http://schemas.microsoft.com/office/drawing/2014/main" id="{F6DA65A9-9475-5DC6-A44A-B5D73A205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8201" name="AutoShape 11">
            <a:extLst>
              <a:ext uri="{FF2B5EF4-FFF2-40B4-BE49-F238E27FC236}">
                <a16:creationId xmlns:a16="http://schemas.microsoft.com/office/drawing/2014/main" id="{A7E26E43-AAC4-ACAC-870B-6F955F562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412875"/>
            <a:ext cx="360363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33CC"/>
          </a:solidFill>
          <a:ln w="9525" algn="ctr">
            <a:solidFill>
              <a:srgbClr val="FF33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8202" name="Text Box 12">
            <a:extLst>
              <a:ext uri="{FF2B5EF4-FFF2-40B4-BE49-F238E27FC236}">
                <a16:creationId xmlns:a16="http://schemas.microsoft.com/office/drawing/2014/main" id="{184812CA-5341-A749-34F0-6AA19CB25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5661025"/>
            <a:ext cx="2159000" cy="376238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  <a:ea typeface="新細明體" panose="02020500000000000000" pitchFamily="18" charset="-120"/>
                <a:sym typeface="Wingdings" panose="05000000000000000000" pitchFamily="2" charset="2"/>
              </a:rPr>
              <a:t>影像攝取時間</a:t>
            </a:r>
            <a:endParaRPr lang="en-US" altLang="zh-TW" sz="1800">
              <a:latin typeface="Arial" panose="020B0604020202020204" pitchFamily="34" charset="0"/>
              <a:ea typeface="新細明體" panose="02020500000000000000" pitchFamily="18" charset="-120"/>
              <a:sym typeface="Wingdings" panose="05000000000000000000" pitchFamily="2" charset="2"/>
            </a:endParaRPr>
          </a:p>
        </p:txBody>
      </p:sp>
      <p:sp>
        <p:nvSpPr>
          <p:cNvPr id="8203" name="Rectangle 13">
            <a:extLst>
              <a:ext uri="{FF2B5EF4-FFF2-40B4-BE49-F238E27FC236}">
                <a16:creationId xmlns:a16="http://schemas.microsoft.com/office/drawing/2014/main" id="{9C7A09F7-137B-FD62-BA75-84D3FFBCD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49500"/>
            <a:ext cx="3889375" cy="3240088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8204" name="Rectangle 14">
            <a:extLst>
              <a:ext uri="{FF2B5EF4-FFF2-40B4-BE49-F238E27FC236}">
                <a16:creationId xmlns:a16="http://schemas.microsoft.com/office/drawing/2014/main" id="{9352A9AC-6A12-F4D5-17A7-1EEED58E9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349500"/>
            <a:ext cx="3889375" cy="3240088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240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  <p:sp>
        <p:nvSpPr>
          <p:cNvPr id="8205" name="Text Box 15">
            <a:extLst>
              <a:ext uri="{FF2B5EF4-FFF2-40B4-BE49-F238E27FC236}">
                <a16:creationId xmlns:a16="http://schemas.microsoft.com/office/drawing/2014/main" id="{024C79E3-A3D1-E099-3EFB-C0E16860D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573463"/>
            <a:ext cx="23034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術前</a:t>
            </a:r>
            <a:r>
              <a:rPr lang="en-US" altLang="zh-TW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</a:t>
            </a:r>
            <a:r>
              <a:rPr lang="zh-TW" altLang="en-US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光片</a:t>
            </a:r>
          </a:p>
        </p:txBody>
      </p:sp>
      <p:sp>
        <p:nvSpPr>
          <p:cNvPr id="8206" name="Text Box 16">
            <a:extLst>
              <a:ext uri="{FF2B5EF4-FFF2-40B4-BE49-F238E27FC236}">
                <a16:creationId xmlns:a16="http://schemas.microsoft.com/office/drawing/2014/main" id="{B4FA3BF7-C97B-112F-C3C8-EC7674010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3500438"/>
            <a:ext cx="28082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最後一次追蹤觀察</a:t>
            </a:r>
            <a:r>
              <a:rPr lang="en-US" altLang="zh-TW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X</a:t>
            </a:r>
            <a:r>
              <a:rPr lang="zh-TW" altLang="en-US" b="1">
                <a:solidFill>
                  <a:srgbClr val="66CCFF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光片</a:t>
            </a:r>
          </a:p>
        </p:txBody>
      </p:sp>
      <p:sp>
        <p:nvSpPr>
          <p:cNvPr id="8207" name="Text Box 17">
            <a:extLst>
              <a:ext uri="{FF2B5EF4-FFF2-40B4-BE49-F238E27FC236}">
                <a16:creationId xmlns:a16="http://schemas.microsoft.com/office/drawing/2014/main" id="{BE9CF4CC-5D05-364C-8717-D2657FE47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661025"/>
            <a:ext cx="2159000" cy="376238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32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1800">
                <a:latin typeface="Arial" panose="020B0604020202020204" pitchFamily="34" charset="0"/>
                <a:ea typeface="新細明體" panose="02020500000000000000" pitchFamily="18" charset="-120"/>
              </a:rPr>
              <a:t>影像攝取時間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 template">
  <a:themeElements>
    <a:clrScheme name="present 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resent templat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present 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 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 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 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 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 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 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line</Template>
  <TotalTime>543</TotalTime>
  <Words>254</Words>
  <Application>Microsoft Office PowerPoint</Application>
  <PresentationFormat>如螢幕大小 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4" baseType="lpstr">
      <vt:lpstr>微軟正黑體</vt:lpstr>
      <vt:lpstr>Times New Roman</vt:lpstr>
      <vt:lpstr>新細明體</vt:lpstr>
      <vt:lpstr>AR MingtiM KSC</vt:lpstr>
      <vt:lpstr>Monotype Corsiva</vt:lpstr>
      <vt:lpstr>Wingdings</vt:lpstr>
      <vt:lpstr>Arial</vt:lpstr>
      <vt:lpstr>標楷體</vt:lpstr>
      <vt:lpstr>present template</vt:lpstr>
      <vt:lpstr>PowerPoint 簡報</vt:lpstr>
      <vt:lpstr>年度專科醫師口試病歷資料</vt:lpstr>
      <vt:lpstr>專科醫師口試病例</vt:lpstr>
      <vt:lpstr>PowerPoint 簡報</vt:lpstr>
      <vt:lpstr>術前與術後追蹤比較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yuanling</dc:creator>
  <cp:lastModifiedBy>凱勻 左</cp:lastModifiedBy>
  <cp:revision>188</cp:revision>
  <dcterms:created xsi:type="dcterms:W3CDTF">2001-07-18T23:57:34Z</dcterms:created>
  <dcterms:modified xsi:type="dcterms:W3CDTF">2026-07-24T16:33:50Z</dcterms:modified>
</cp:coreProperties>
</file>